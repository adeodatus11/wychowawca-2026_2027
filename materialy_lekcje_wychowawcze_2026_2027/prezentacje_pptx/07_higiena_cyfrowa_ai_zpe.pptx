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 całej lekcji: 30 minut. Grupa: wszystkie klasy. Na slajdach i w ćwiczeniu nie pojawiają się dane osobowe ani przykłady pozwalające rozpoznać konkretnego ucznia. Po slajdach przejdź do ćwiczenia 'Test informacji'. Nie proś uczniów o pokazywanie zawartości telefonów.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Wyraźnie zaznacz, że nikt nie musi podawać liczby. Prywatność w tym ćwiczeniu jest częścią lekcji.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Zaznacz, że ZPE (zpe.gov.pl) to darmowe materiały do nauki – warto pokazać stronę, jeśli masz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Podaj konkretny przykład: wklejenie do AI listy klasy z numerami telefonów, żeby 'zrobić z tego tabelkę'.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Ostatni punkt z prawej kolumny to najlepszy praktyczny test: jeśli nie umiesz tego wytłumaczyć, to nie jest Twoja wiedza.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Dobra okazja, by pokazać różnicę między źródłem a powtórzeniem: dziesięć postów o tym samym to nadal jedno źródło.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Jeśli brakuje czasu, ten slajd można pominąć i przejść do ćwiczenia.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informacji: uczniowie dostają krótką tezę i planują, jak ją zweryfikować bez kopiowania pierwszego wyniku. Na slajdach i w ćwiczeniu nie pojawiają się dane osobowe ani przykłady pozwalające rozpoznać konkretnego ucznia.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Ostatnie zdanie przeczytaj spokojnie i bez straszenia. Wskaż konkretne osoby w szkole: wychowawca, pedagog, psycholog.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325880"/>
            <a:ext cx="3749040" cy="3749040"/>
          </a:xfrm>
          <a:prstGeom prst="ellipse">
            <a:avLst/>
          </a:prstGeom>
          <a:solidFill>
            <a:srgbClr val="F3F1F8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1828800"/>
            <a:ext cx="2743200" cy="2743200"/>
          </a:xfrm>
          <a:prstGeom prst="ellipse">
            <a:avLst/>
          </a:prstGeom>
          <a:solidFill>
            <a:srgbClr val="E5E0EF"/>
          </a:solidFill>
          <a:ln/>
        </p:spPr>
      </p:sp>
      <p:sp>
        <p:nvSpPr>
          <p:cNvPr id="4" name="Shape 2"/>
          <p:cNvSpPr/>
          <p:nvPr/>
        </p:nvSpPr>
        <p:spPr>
          <a:xfrm>
            <a:off x="9171432" y="2267712"/>
            <a:ext cx="1865376" cy="1865376"/>
          </a:xfrm>
          <a:prstGeom prst="ellipse">
            <a:avLst/>
          </a:prstGeom>
          <a:solidFill>
            <a:srgbClr val="5A3E9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4060" y="2720340"/>
            <a:ext cx="960120" cy="960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868680"/>
            <a:ext cx="841248" cy="841248"/>
          </a:xfrm>
          <a:prstGeom prst="ellipse">
            <a:avLst/>
          </a:prstGeom>
          <a:solidFill>
            <a:srgbClr val="E8E4F1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8686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D3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691640" y="10149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5A3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LEKCJA WYCHOWAWCZA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691640" y="12801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ZSZ5 we Wrocławiu · rok szkolny 2026/2027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2103120"/>
            <a:ext cx="7360920" cy="117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Higiena cyfrowa, AI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krytyczne myślenie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640080" y="3513328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i AI nie są wrogiem. Problemem jest oddawanie im dwóch rzeczy naraz: swojej uwagi i swoich danych.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40080" y="5074920"/>
            <a:ext cx="1192378" cy="475488"/>
          </a:xfrm>
          <a:prstGeom prst="roundRect">
            <a:avLst>
              <a:gd name="adj" fmla="val 96154"/>
            </a:avLst>
          </a:prstGeom>
          <a:solidFill>
            <a:srgbClr val="EFECF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520293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78992" y="5074920"/>
            <a:ext cx="6803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2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033626" y="5074920"/>
            <a:ext cx="1819656" cy="475488"/>
          </a:xfrm>
          <a:prstGeom prst="roundRect">
            <a:avLst>
              <a:gd name="adj" fmla="val 96154"/>
            </a:avLst>
          </a:prstGeom>
          <a:solidFill>
            <a:srgbClr val="EFECF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074" y="5202936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472538" y="5074920"/>
            <a:ext cx="1307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2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klasy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7 · Higiena cyfrowa, AI i krytyczne myślenie · ZSZ5 we Wrocławiu · 2026/2027</a:t>
            </a:r>
            <a:endParaRPr lang="en-US" sz="950" dirty="0"/>
          </a:p>
        </p:txBody>
      </p:sp>
      <p:pic>
        <p:nvPicPr>
          <p:cNvPr id="19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5A3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WEJŚCIE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Zacznijmy od sytuacji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10911535" cy="3611880"/>
          </a:xfrm>
          <a:prstGeom prst="roundRect">
            <a:avLst>
              <a:gd name="adj" fmla="val 2532"/>
            </a:avLst>
          </a:prstGeom>
          <a:solidFill>
            <a:srgbClr val="EFECF5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" y="2884932"/>
            <a:ext cx="1170432" cy="1170432"/>
          </a:xfrm>
          <a:prstGeom prst="ellipse">
            <a:avLst/>
          </a:prstGeom>
          <a:solidFill>
            <a:srgbClr val="5A3E9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456" y="3165836"/>
            <a:ext cx="608625" cy="6086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06040" y="1938528"/>
            <a:ext cx="830549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342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Ile razy dziś odblokowałeś telefon? Sprawdź w ustawieniach czasu ekranowego — i nie mów wyniku na głos.</a:t>
            </a:r>
            <a:endParaRPr lang="en-US" sz="2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5522976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5440680"/>
            <a:ext cx="104543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chodzi o wstyd. Chodzi o to, że każde odblokowanie zabiera kilka minut skupienia, a nie kilka sekund.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7 · Higiena cyfrowa, AI i krytyczne myślenie · ZSZ5 we Wrocławiu · 2026/2027</a:t>
            </a:r>
            <a:endParaRPr lang="en-US" sz="950" dirty="0"/>
          </a:p>
        </p:txBody>
      </p:sp>
      <p:pic>
        <p:nvPicPr>
          <p:cNvPr id="11" name="Image 2" descr="/sessions/compassionate-clever-carson/mnt/outputs/build/logo_t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5A3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PRIORYTET MEN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Skąd bierze się temat tej lekcji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2148840"/>
          </a:xfrm>
          <a:prstGeom prst="roundRect">
            <a:avLst>
              <a:gd name="adj" fmla="val 4255"/>
            </a:avLst>
          </a:prstGeom>
          <a:solidFill>
            <a:srgbClr val="EFECF5"/>
          </a:solidFill>
          <a:ln/>
        </p:spPr>
      </p:sp>
      <p:sp>
        <p:nvSpPr>
          <p:cNvPr id="5" name="Shape 3"/>
          <p:cNvSpPr/>
          <p:nvPr/>
        </p:nvSpPr>
        <p:spPr>
          <a:xfrm>
            <a:off x="978408" y="2327148"/>
            <a:ext cx="877824" cy="877824"/>
          </a:xfrm>
          <a:prstGeom prst="ellipse">
            <a:avLst/>
          </a:prstGeom>
          <a:solidFill>
            <a:srgbClr val="5A3E9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086" y="2537826"/>
            <a:ext cx="456468" cy="4564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40280" y="1920240"/>
            <a:ext cx="86712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50" b="1" dirty="0">
                <a:solidFill>
                  <a:srgbClr val="362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Higiena cyfrowa i aktywność offline, bezpieczeństwo w sieci, krytyczna analiza informacji, odpowiedzialne wykorzystanie AI oraz Zintegrowana Platforma Edukacyjna.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2240280" y="3364992"/>
            <a:ext cx="8671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Kierunki polityki oświatowej państwa na rok szkolny 2026/2027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4251960"/>
            <a:ext cx="3466490" cy="1892808"/>
          </a:xfrm>
          <a:prstGeom prst="roundRect">
            <a:avLst>
              <a:gd name="adj" fmla="val 3865"/>
            </a:avLst>
          </a:prstGeom>
          <a:solidFill>
            <a:srgbClr val="F5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886968" y="4498848"/>
            <a:ext cx="640080" cy="640080"/>
          </a:xfrm>
          <a:prstGeom prst="ellipse">
            <a:avLst/>
          </a:prstGeom>
          <a:solidFill>
            <a:srgbClr val="5A3E9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87" y="4652467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96112" y="5221224"/>
            <a:ext cx="295442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Uwaga jest zasobem, który się kończy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362602" y="4251960"/>
            <a:ext cx="3466490" cy="1892808"/>
          </a:xfrm>
          <a:prstGeom prst="roundRect">
            <a:avLst>
              <a:gd name="adj" fmla="val 3865"/>
            </a:avLst>
          </a:prstGeom>
          <a:solidFill>
            <a:srgbClr val="F5F7FA"/>
          </a:solidFill>
          <a:ln/>
        </p:spPr>
      </p:sp>
      <p:sp>
        <p:nvSpPr>
          <p:cNvPr id="14" name="Shape 10"/>
          <p:cNvSpPr/>
          <p:nvPr/>
        </p:nvSpPr>
        <p:spPr>
          <a:xfrm>
            <a:off x="4609490" y="4498848"/>
            <a:ext cx="640080" cy="640080"/>
          </a:xfrm>
          <a:prstGeom prst="ellipse">
            <a:avLst/>
          </a:prstGeom>
          <a:solidFill>
            <a:srgbClr val="5A3E9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110" y="4652467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18634" y="5221224"/>
            <a:ext cx="295442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raz wklejone zostają na zewnątrz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8085125" y="4251960"/>
            <a:ext cx="3466490" cy="1892808"/>
          </a:xfrm>
          <a:prstGeom prst="roundRect">
            <a:avLst>
              <a:gd name="adj" fmla="val 3865"/>
            </a:avLst>
          </a:prstGeom>
          <a:solidFill>
            <a:srgbClr val="F5F7FA"/>
          </a:solidFill>
          <a:ln/>
        </p:spPr>
      </p:sp>
      <p:sp>
        <p:nvSpPr>
          <p:cNvPr id="18" name="Shape 13"/>
          <p:cNvSpPr/>
          <p:nvPr/>
        </p:nvSpPr>
        <p:spPr>
          <a:xfrm>
            <a:off x="8332013" y="4498848"/>
            <a:ext cx="640080" cy="640080"/>
          </a:xfrm>
          <a:prstGeom prst="ellipse">
            <a:avLst/>
          </a:prstGeom>
          <a:solidFill>
            <a:srgbClr val="5A3E9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4652467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41157" y="5221224"/>
            <a:ext cx="295442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Pierwszy wynik nie znaczy „prawda”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7 · Higiena cyfrowa, AI i krytyczne myślenie · ZSZ5 we Wrocławiu · 2026/2027</a:t>
            </a:r>
            <a:endParaRPr lang="en-US" sz="950" dirty="0"/>
          </a:p>
        </p:txBody>
      </p:sp>
      <p:pic>
        <p:nvPicPr>
          <p:cNvPr id="22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5A3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TRZY ZASADY W LICZBACH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Zapamiętaj te trzy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54298" cy="2788920"/>
          </a:xfrm>
          <a:prstGeom prst="roundRect">
            <a:avLst>
              <a:gd name="adj" fmla="val 3279"/>
            </a:avLst>
          </a:prstGeom>
          <a:solidFill>
            <a:srgbClr val="EFEC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12848"/>
            <a:ext cx="30885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5A3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96112" y="3611880"/>
            <a:ext cx="29422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38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danych osobowych — swoich i cudzych — wklejanych do narzędzi AI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68698" y="1920240"/>
            <a:ext cx="3454298" cy="2788920"/>
          </a:xfrm>
          <a:prstGeom prst="roundRect">
            <a:avLst>
              <a:gd name="adj" fmla="val 3279"/>
            </a:avLst>
          </a:prstGeom>
          <a:solidFill>
            <a:srgbClr val="EFECF5"/>
          </a:solidFill>
          <a:ln/>
        </p:spPr>
      </p:sp>
      <p:sp>
        <p:nvSpPr>
          <p:cNvPr id="8" name="Text 6"/>
          <p:cNvSpPr/>
          <p:nvPr/>
        </p:nvSpPr>
        <p:spPr>
          <a:xfrm>
            <a:off x="4551578" y="2212848"/>
            <a:ext cx="30885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5A3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624730" y="3611880"/>
            <a:ext cx="29422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38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niezależne źródła, zanim uznasz informację za prawdziwą i podasz ją dalej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97317" y="1920240"/>
            <a:ext cx="3454298" cy="2788920"/>
          </a:xfrm>
          <a:prstGeom prst="roundRect">
            <a:avLst>
              <a:gd name="adj" fmla="val 3279"/>
            </a:avLst>
          </a:prstGeom>
          <a:solidFill>
            <a:srgbClr val="EFECF5"/>
          </a:solidFill>
          <a:ln/>
        </p:spPr>
      </p:sp>
      <p:sp>
        <p:nvSpPr>
          <p:cNvPr id="11" name="Text 9"/>
          <p:cNvSpPr/>
          <p:nvPr/>
        </p:nvSpPr>
        <p:spPr>
          <a:xfrm>
            <a:off x="8280197" y="2212848"/>
            <a:ext cx="30885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5A3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8353349" y="3611880"/>
            <a:ext cx="29422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38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telefonu przed snem. To najprostsza zmiana, która realnie poprawia sen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5038344"/>
            <a:ext cx="10911535" cy="1106424"/>
          </a:xfrm>
          <a:prstGeom prst="roundRect">
            <a:avLst>
              <a:gd name="adj" fmla="val 6612"/>
            </a:avLst>
          </a:prstGeom>
          <a:solidFill>
            <a:srgbClr val="F5F7FA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5436108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08760" y="5093208"/>
            <a:ext cx="972281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osobowe to też dane kolegów: zdjęcia, adresy, numery, treść cudzych wiadomości. Wklejenie ich do dowolnego narzędzia online oznacza wyniesienie ich ze szkoły.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7 · Higiena cyfrowa, AI i krytyczne myślenie · ZSZ5 we Wrocławiu · 2026/2027</a:t>
            </a:r>
            <a:endParaRPr lang="en-US" sz="950" dirty="0"/>
          </a:p>
        </p:txBody>
      </p:sp>
      <p:pic>
        <p:nvPicPr>
          <p:cNvPr id="17" name="Image 1" descr="/sessions/compassionate-clever-carson/mnt/outputs/build/logo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5A3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 NAUCE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korzystać z AI, żeby nie oddać jej myślenia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55648"/>
            <a:ext cx="5263744" cy="4389120"/>
          </a:xfrm>
          <a:prstGeom prst="roundRect">
            <a:avLst>
              <a:gd name="adj" fmla="val 2083"/>
            </a:avLst>
          </a:prstGeom>
          <a:solidFill>
            <a:srgbClr val="F0F6F2"/>
          </a:solidFill>
          <a:ln/>
        </p:spPr>
      </p:sp>
      <p:sp>
        <p:nvSpPr>
          <p:cNvPr id="5" name="Shape 3"/>
          <p:cNvSpPr/>
          <p:nvPr/>
        </p:nvSpPr>
        <p:spPr>
          <a:xfrm>
            <a:off x="886968" y="2002536"/>
            <a:ext cx="640080" cy="640080"/>
          </a:xfrm>
          <a:prstGeom prst="ellipse">
            <a:avLst/>
          </a:prstGeom>
          <a:solidFill>
            <a:srgbClr val="2C7A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587" y="2156155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93392"/>
            <a:ext cx="393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Tak, tak to działa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24128" y="2871216"/>
            <a:ext cx="45322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Proszę o wyjaśnienie tematu innymi słowami, kiedy nie rozumiem.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Proszę o plan nauki albo pytania sprawdzające do materiału.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Sprawdzam odpowiedź w podręczniku, na ZPE albo u nauczyciela.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Mówię otwarcie, że korzystałem z AI, jeśli praca ma być moja.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87872" y="1755648"/>
            <a:ext cx="5263744" cy="4389120"/>
          </a:xfrm>
          <a:prstGeom prst="roundRect">
            <a:avLst>
              <a:gd name="adj" fmla="val 2083"/>
            </a:avLst>
          </a:prstGeom>
          <a:solidFill>
            <a:srgbClr val="FAF0F0"/>
          </a:solidFill>
          <a:ln/>
        </p:spPr>
      </p:sp>
      <p:sp>
        <p:nvSpPr>
          <p:cNvPr id="10" name="Shape 7"/>
          <p:cNvSpPr/>
          <p:nvPr/>
        </p:nvSpPr>
        <p:spPr>
          <a:xfrm>
            <a:off x="6534760" y="2002536"/>
            <a:ext cx="640080" cy="640080"/>
          </a:xfrm>
          <a:prstGeom prst="ellipse">
            <a:avLst/>
          </a:prstGeom>
          <a:solidFill>
            <a:srgbClr val="B423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379" y="2156155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85152" y="1993392"/>
            <a:ext cx="393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E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Tego nie robimy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71920" y="2871216"/>
            <a:ext cx="45322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wklejam danych osobowych: swoich, rodziny ani kolegów.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oddaję AI całej pracy i nie podpisuję jej swoim nazwiskiem.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wierzę pierwszej odpowiedzi — model potrafi się mylić pewnym tonem.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kopiuję treści, której nie potrafię wytłumaczyć własnymi słowami.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7 · Higiena cyfrowa, AI i krytyczne myślenie · ZSZ5 we Wrocławiu · 2026/2027</a:t>
            </a:r>
            <a:endParaRPr lang="en-US" sz="950" dirty="0"/>
          </a:p>
        </p:txBody>
      </p:sp>
      <p:pic>
        <p:nvPicPr>
          <p:cNvPr id="15" name="Image 2" descr="/sessions/compassionate-clever-carson/mnt/outputs/build/logo_t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5A3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KRYTYCZNE MYŚLENIE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Cztery pytania do każdej informacji z sieci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12848"/>
            <a:ext cx="2439848" cy="2377440"/>
          </a:xfrm>
          <a:prstGeom prst="roundRect">
            <a:avLst>
              <a:gd name="adj" fmla="val 3462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1530820" y="1883664"/>
            <a:ext cx="658368" cy="658368"/>
          </a:xfrm>
          <a:prstGeom prst="ellipse">
            <a:avLst/>
          </a:prstGeom>
          <a:solidFill>
            <a:srgbClr val="5A3E9B"/>
          </a:solidFill>
          <a:ln/>
        </p:spPr>
      </p:sp>
      <p:sp>
        <p:nvSpPr>
          <p:cNvPr id="6" name="Text 4"/>
          <p:cNvSpPr/>
          <p:nvPr/>
        </p:nvSpPr>
        <p:spPr>
          <a:xfrm>
            <a:off x="1530820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" y="2715768"/>
            <a:ext cx="2037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42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Kto to napisał?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3310128"/>
            <a:ext cx="196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Autor, instytucja, czy w ogóle da się to ustalić.</a:t>
            </a:r>
            <a:endParaRPr lang="en-US" sz="12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3080" y="3282696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463976" y="2212848"/>
            <a:ext cx="2439848" cy="2377440"/>
          </a:xfrm>
          <a:prstGeom prst="roundRect">
            <a:avLst>
              <a:gd name="adj" fmla="val 3462"/>
            </a:avLst>
          </a:prstGeom>
          <a:solidFill>
            <a:srgbClr val="F2F0F7"/>
          </a:solidFill>
          <a:ln/>
        </p:spPr>
      </p:sp>
      <p:sp>
        <p:nvSpPr>
          <p:cNvPr id="11" name="Shape 8"/>
          <p:cNvSpPr/>
          <p:nvPr/>
        </p:nvSpPr>
        <p:spPr>
          <a:xfrm>
            <a:off x="4354716" y="1883664"/>
            <a:ext cx="658368" cy="658368"/>
          </a:xfrm>
          <a:prstGeom prst="ellipse">
            <a:avLst/>
          </a:prstGeom>
          <a:solidFill>
            <a:srgbClr val="5A3E9B"/>
          </a:solidFill>
          <a:ln/>
        </p:spPr>
      </p:sp>
      <p:sp>
        <p:nvSpPr>
          <p:cNvPr id="12" name="Text 9"/>
          <p:cNvSpPr/>
          <p:nvPr/>
        </p:nvSpPr>
        <p:spPr>
          <a:xfrm>
            <a:off x="4354716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665144" y="2715768"/>
            <a:ext cx="2037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42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Skąd to wie?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701720" y="3310128"/>
            <a:ext cx="196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podaje źródło, badanie, dokument.</a:t>
            </a:r>
            <a:endParaRPr lang="en-US" sz="12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6976" y="3282696"/>
            <a:ext cx="237744" cy="2377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287872" y="2212848"/>
            <a:ext cx="2439848" cy="2377440"/>
          </a:xfrm>
          <a:prstGeom prst="roundRect">
            <a:avLst>
              <a:gd name="adj" fmla="val 3462"/>
            </a:avLst>
          </a:prstGeom>
          <a:solidFill>
            <a:srgbClr val="F2F0F7"/>
          </a:solidFill>
          <a:ln/>
        </p:spPr>
      </p:sp>
      <p:sp>
        <p:nvSpPr>
          <p:cNvPr id="17" name="Shape 13"/>
          <p:cNvSpPr/>
          <p:nvPr/>
        </p:nvSpPr>
        <p:spPr>
          <a:xfrm>
            <a:off x="7178612" y="1883664"/>
            <a:ext cx="658368" cy="658368"/>
          </a:xfrm>
          <a:prstGeom prst="ellipse">
            <a:avLst/>
          </a:prstGeom>
          <a:solidFill>
            <a:srgbClr val="5A3E9B"/>
          </a:solidFill>
          <a:ln/>
        </p:spPr>
      </p:sp>
      <p:sp>
        <p:nvSpPr>
          <p:cNvPr id="18" name="Text 14"/>
          <p:cNvSpPr/>
          <p:nvPr/>
        </p:nvSpPr>
        <p:spPr>
          <a:xfrm>
            <a:off x="7178612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6489040" y="2715768"/>
            <a:ext cx="2037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42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Kto na tym zyskuje?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525616" y="3310128"/>
            <a:ext cx="196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Reklama, polityka, zbieranie kliknięć.</a:t>
            </a:r>
            <a:endParaRPr lang="en-US" sz="12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0871" y="3282696"/>
            <a:ext cx="237744" cy="23774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9111767" y="2212848"/>
            <a:ext cx="2439848" cy="2377440"/>
          </a:xfrm>
          <a:prstGeom prst="roundRect">
            <a:avLst>
              <a:gd name="adj" fmla="val 3462"/>
            </a:avLst>
          </a:prstGeom>
          <a:solidFill>
            <a:srgbClr val="F2F0F7"/>
          </a:solidFill>
          <a:ln/>
        </p:spPr>
      </p:sp>
      <p:sp>
        <p:nvSpPr>
          <p:cNvPr id="23" name="Shape 18"/>
          <p:cNvSpPr/>
          <p:nvPr/>
        </p:nvSpPr>
        <p:spPr>
          <a:xfrm>
            <a:off x="10002507" y="1883664"/>
            <a:ext cx="658368" cy="658368"/>
          </a:xfrm>
          <a:prstGeom prst="ellipse">
            <a:avLst/>
          </a:prstGeom>
          <a:solidFill>
            <a:srgbClr val="5A3E9B"/>
          </a:solidFill>
          <a:ln/>
        </p:spPr>
      </p:sp>
      <p:sp>
        <p:nvSpPr>
          <p:cNvPr id="24" name="Text 19"/>
          <p:cNvSpPr/>
          <p:nvPr/>
        </p:nvSpPr>
        <p:spPr>
          <a:xfrm>
            <a:off x="10002507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9312935" y="2715768"/>
            <a:ext cx="2037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42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Gdzie to sprawdzę?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9349511" y="3310128"/>
            <a:ext cx="196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Drugie, niezależne źródło. Nie kolejny post o tym samym.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640080" y="4956048"/>
            <a:ext cx="10911535" cy="1188720"/>
          </a:xfrm>
          <a:prstGeom prst="roundRect">
            <a:avLst>
              <a:gd name="adj" fmla="val 6154"/>
            </a:avLst>
          </a:prstGeom>
          <a:solidFill>
            <a:srgbClr val="F5F7FA"/>
          </a:solidFill>
          <a:ln/>
        </p:spPr>
      </p:sp>
      <p:sp>
        <p:nvSpPr>
          <p:cNvPr id="28" name="Text 23"/>
          <p:cNvSpPr/>
          <p:nvPr/>
        </p:nvSpPr>
        <p:spPr>
          <a:xfrm>
            <a:off x="1097280" y="4956048"/>
            <a:ext cx="99971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informacja bardzo mocno gra na emocjach, to sygnał do sprawdzenia, a nie do podania dalej.</a:t>
            </a:r>
            <a:endParaRPr lang="en-US" sz="1450" dirty="0"/>
          </a:p>
        </p:txBody>
      </p:sp>
      <p:sp>
        <p:nvSpPr>
          <p:cNvPr id="29" name="Text 2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7 · Higiena cyfrowa, AI i krytyczne myślenie · ZSZ5 we Wrocławiu · 2026/2027</a:t>
            </a:r>
            <a:endParaRPr lang="en-US" sz="950" dirty="0"/>
          </a:p>
        </p:txBody>
      </p:sp>
      <p:pic>
        <p:nvPicPr>
          <p:cNvPr id="30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5A3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SŁOWA KLUCZOWE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Pięć słów, które zostają po tej lekcji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992112" cy="3108960"/>
          </a:xfrm>
          <a:prstGeom prst="roundRect">
            <a:avLst>
              <a:gd name="adj" fmla="val 4131"/>
            </a:avLst>
          </a:prstGeom>
          <a:solidFill>
            <a:srgbClr val="F0EEF6"/>
          </a:solidFill>
          <a:ln/>
        </p:spPr>
      </p:sp>
      <p:sp>
        <p:nvSpPr>
          <p:cNvPr id="5" name="Shape 3"/>
          <p:cNvSpPr/>
          <p:nvPr/>
        </p:nvSpPr>
        <p:spPr>
          <a:xfrm>
            <a:off x="1206368" y="2249424"/>
            <a:ext cx="859536" cy="859536"/>
          </a:xfrm>
          <a:prstGeom prst="ellipse">
            <a:avLst/>
          </a:prstGeom>
          <a:solidFill>
            <a:srgbClr val="5A3E9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2657" y="2455713"/>
            <a:ext cx="446959" cy="4469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3264408"/>
            <a:ext cx="177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342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68096" y="3703320"/>
            <a:ext cx="173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narzędzie, nie nawyk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869936" y="1965960"/>
            <a:ext cx="1992112" cy="3108960"/>
          </a:xfrm>
          <a:prstGeom prst="roundRect">
            <a:avLst>
              <a:gd name="adj" fmla="val 4131"/>
            </a:avLst>
          </a:prstGeom>
          <a:solidFill>
            <a:srgbClr val="F0EEF6"/>
          </a:solidFill>
          <a:ln/>
        </p:spPr>
      </p:sp>
      <p:sp>
        <p:nvSpPr>
          <p:cNvPr id="10" name="Shape 7"/>
          <p:cNvSpPr/>
          <p:nvPr/>
        </p:nvSpPr>
        <p:spPr>
          <a:xfrm>
            <a:off x="3436224" y="2249424"/>
            <a:ext cx="859536" cy="859536"/>
          </a:xfrm>
          <a:prstGeom prst="ellipse">
            <a:avLst/>
          </a:prstGeom>
          <a:solidFill>
            <a:srgbClr val="5A3E9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512" y="2455713"/>
            <a:ext cx="446959" cy="4469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79664" y="3264408"/>
            <a:ext cx="177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342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Uwaga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2997952" y="3703320"/>
            <a:ext cx="173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zasób ograniczony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99792" y="1965960"/>
            <a:ext cx="1992112" cy="3108960"/>
          </a:xfrm>
          <a:prstGeom prst="roundRect">
            <a:avLst>
              <a:gd name="adj" fmla="val 4131"/>
            </a:avLst>
          </a:prstGeom>
          <a:solidFill>
            <a:srgbClr val="F0EEF6"/>
          </a:solidFill>
          <a:ln/>
        </p:spPr>
      </p:sp>
      <p:sp>
        <p:nvSpPr>
          <p:cNvPr id="15" name="Shape 11"/>
          <p:cNvSpPr/>
          <p:nvPr/>
        </p:nvSpPr>
        <p:spPr>
          <a:xfrm>
            <a:off x="5666080" y="2249424"/>
            <a:ext cx="859536" cy="859536"/>
          </a:xfrm>
          <a:prstGeom prst="ellipse">
            <a:avLst/>
          </a:prstGeom>
          <a:solidFill>
            <a:srgbClr val="5A3E9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368" y="2455713"/>
            <a:ext cx="446959" cy="4469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09520" y="3264408"/>
            <a:ext cx="177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342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227808" y="3703320"/>
            <a:ext cx="173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pomoc, nie zastępstwo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329648" y="1965960"/>
            <a:ext cx="1992112" cy="3108960"/>
          </a:xfrm>
          <a:prstGeom prst="roundRect">
            <a:avLst>
              <a:gd name="adj" fmla="val 4131"/>
            </a:avLst>
          </a:prstGeom>
          <a:solidFill>
            <a:srgbClr val="F0EEF6"/>
          </a:solidFill>
          <a:ln/>
        </p:spPr>
      </p:sp>
      <p:sp>
        <p:nvSpPr>
          <p:cNvPr id="20" name="Shape 15"/>
          <p:cNvSpPr/>
          <p:nvPr/>
        </p:nvSpPr>
        <p:spPr>
          <a:xfrm>
            <a:off x="7895935" y="2249424"/>
            <a:ext cx="859536" cy="859536"/>
          </a:xfrm>
          <a:prstGeom prst="ellipse">
            <a:avLst/>
          </a:prstGeom>
          <a:solidFill>
            <a:srgbClr val="5A3E9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224" y="2455713"/>
            <a:ext cx="446959" cy="4469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39376" y="3264408"/>
            <a:ext cx="177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342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457664" y="3703320"/>
            <a:ext cx="173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też cudze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559503" y="1965960"/>
            <a:ext cx="1992112" cy="3108960"/>
          </a:xfrm>
          <a:prstGeom prst="roundRect">
            <a:avLst>
              <a:gd name="adj" fmla="val 4131"/>
            </a:avLst>
          </a:prstGeom>
          <a:solidFill>
            <a:srgbClr val="F0EEF6"/>
          </a:solidFill>
          <a:ln/>
        </p:spPr>
      </p:sp>
      <p:sp>
        <p:nvSpPr>
          <p:cNvPr id="25" name="Shape 19"/>
          <p:cNvSpPr/>
          <p:nvPr/>
        </p:nvSpPr>
        <p:spPr>
          <a:xfrm>
            <a:off x="10125791" y="2249424"/>
            <a:ext cx="859536" cy="859536"/>
          </a:xfrm>
          <a:prstGeom prst="ellipse">
            <a:avLst/>
          </a:prstGeom>
          <a:solidFill>
            <a:srgbClr val="5A3E9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080" y="2455713"/>
            <a:ext cx="446959" cy="44695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69231" y="3264408"/>
            <a:ext cx="177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342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Weryfikacja źródeł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9687519" y="3703320"/>
            <a:ext cx="173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dwa, nie jedno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7 · Higiena cyfrowa, AI i krytyczne myślenie · ZSZ5 we Wrocławiu · 2026/2027</a:t>
            </a:r>
            <a:endParaRPr lang="en-US" sz="950" dirty="0"/>
          </a:p>
        </p:txBody>
      </p:sp>
      <p:pic>
        <p:nvPicPr>
          <p:cNvPr id="30" name="Image 5" descr="/sessions/compassionate-clever-carson/mnt/outputs/build/logo_tri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5A3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ĆWICZENIE GŁÓWNE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informacji: jak sprawdzić tezę bez kopiowania pierwszego wyniku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14255" y="658368"/>
            <a:ext cx="1737360" cy="566928"/>
          </a:xfrm>
          <a:prstGeom prst="roundRect">
            <a:avLst>
              <a:gd name="adj" fmla="val 80645"/>
            </a:avLst>
          </a:prstGeom>
          <a:solidFill>
            <a:srgbClr val="5A3E9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4567" y="82296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44607" y="65836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10911535" cy="1152144"/>
          </a:xfrm>
          <a:prstGeom prst="roundRect">
            <a:avLst>
              <a:gd name="adj" fmla="val 7143"/>
            </a:avLst>
          </a:prstGeom>
          <a:solidFill>
            <a:srgbClr val="EFECF5"/>
          </a:solidFill>
          <a:ln/>
        </p:spPr>
      </p:sp>
      <p:sp>
        <p:nvSpPr>
          <p:cNvPr id="8" name="Shape 5"/>
          <p:cNvSpPr/>
          <p:nvPr/>
        </p:nvSpPr>
        <p:spPr>
          <a:xfrm>
            <a:off x="923544" y="1773936"/>
            <a:ext cx="804672" cy="804672"/>
          </a:xfrm>
          <a:prstGeom prst="ellipse">
            <a:avLst/>
          </a:prstGeom>
          <a:solidFill>
            <a:srgbClr val="5A3E9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665" y="1967057"/>
            <a:ext cx="418429" cy="41842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65960" y="1728216"/>
            <a:ext cx="92198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42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Każda grupa dostaje krótką tezę. Zadanie: nie rozstrzygnąć jej, ale zaplanować, jak ją sprawdzić.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640080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12" name="Shape 8"/>
          <p:cNvSpPr/>
          <p:nvPr/>
        </p:nvSpPr>
        <p:spPr>
          <a:xfrm>
            <a:off x="877824" y="3282696"/>
            <a:ext cx="512064" cy="512064"/>
          </a:xfrm>
          <a:prstGeom prst="ellipse">
            <a:avLst/>
          </a:prstGeom>
          <a:solidFill>
            <a:srgbClr val="DED8EB"/>
          </a:solidFill>
          <a:ln/>
        </p:spPr>
      </p:sp>
      <p:sp>
        <p:nvSpPr>
          <p:cNvPr id="13" name="Text 9"/>
          <p:cNvSpPr/>
          <p:nvPr/>
        </p:nvSpPr>
        <p:spPr>
          <a:xfrm>
            <a:off x="877824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3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77824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Teza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877824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Krótkie zdanie brzmiące wiarygodnie, ale bez podanego źródła.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356506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17" name="Shape 13"/>
          <p:cNvSpPr/>
          <p:nvPr/>
        </p:nvSpPr>
        <p:spPr>
          <a:xfrm>
            <a:off x="4594250" y="3282696"/>
            <a:ext cx="512064" cy="512064"/>
          </a:xfrm>
          <a:prstGeom prst="ellipse">
            <a:avLst/>
          </a:prstGeom>
          <a:solidFill>
            <a:srgbClr val="DED8EB"/>
          </a:solidFill>
          <a:ln/>
        </p:spPr>
      </p:sp>
      <p:sp>
        <p:nvSpPr>
          <p:cNvPr id="18" name="Text 14"/>
          <p:cNvSpPr/>
          <p:nvPr/>
        </p:nvSpPr>
        <p:spPr>
          <a:xfrm>
            <a:off x="4594250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3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594250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weryfikacji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4594250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Cztery pytania z poprzedniego slajdu plus dwa konkretne miejsca do sprawdzenia.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072933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22" name="Shape 18"/>
          <p:cNvSpPr/>
          <p:nvPr/>
        </p:nvSpPr>
        <p:spPr>
          <a:xfrm>
            <a:off x="8310677" y="3282696"/>
            <a:ext cx="512064" cy="512064"/>
          </a:xfrm>
          <a:prstGeom prst="ellipse">
            <a:avLst/>
          </a:prstGeom>
          <a:solidFill>
            <a:srgbClr val="DED8EB"/>
          </a:solidFill>
          <a:ln/>
        </p:spPr>
      </p:sp>
      <p:sp>
        <p:nvSpPr>
          <p:cNvPr id="23" name="Text 19"/>
          <p:cNvSpPr/>
          <p:nvPr/>
        </p:nvSpPr>
        <p:spPr>
          <a:xfrm>
            <a:off x="8310677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3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8310677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Prezentacja planu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8310677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Grupa mówi, jak sprawdzi, a nie w co wierzy. Oceniamy plan, nie opinię.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40080" y="5468112"/>
            <a:ext cx="10911535" cy="676656"/>
          </a:xfrm>
          <a:prstGeom prst="roundRect">
            <a:avLst>
              <a:gd name="adj" fmla="val 9459"/>
            </a:avLst>
          </a:prstGeom>
          <a:solidFill>
            <a:srgbClr val="FBF2F2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66928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417320" y="5468112"/>
            <a:ext cx="98599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90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sprawdzamy informacji o konkretnych osobach z naszej szkoły i nie wyszukujemy danych o uczniach.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7 · Higiena cyfrowa, AI i krytyczne myślenie · ZSZ5 we Wrocławiu · 2026/2027</a:t>
            </a:r>
            <a:endParaRPr lang="en-US" sz="950" dirty="0"/>
          </a:p>
        </p:txBody>
      </p:sp>
      <p:pic>
        <p:nvPicPr>
          <p:cNvPr id="30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5A3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WYJŚCIE Z LEKCJI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Wychodzisz z tej lekcji z trzema rzeczami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F0EEF6"/>
          </a:solidFill>
          <a:ln/>
        </p:spPr>
      </p:sp>
      <p:sp>
        <p:nvSpPr>
          <p:cNvPr id="5" name="Shape 3"/>
          <p:cNvSpPr/>
          <p:nvPr/>
        </p:nvSpPr>
        <p:spPr>
          <a:xfrm>
            <a:off x="1867357" y="2203704"/>
            <a:ext cx="987552" cy="987552"/>
          </a:xfrm>
          <a:prstGeom prst="ellipse">
            <a:avLst/>
          </a:prstGeom>
          <a:solidFill>
            <a:srgbClr val="5A3E9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4370" y="2440716"/>
            <a:ext cx="513527" cy="513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2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decyzja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zmiana w korzystaniu z telefonu albo AI.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74794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F0EEF6"/>
          </a:solidFill>
          <a:ln/>
        </p:spPr>
      </p:sp>
      <p:sp>
        <p:nvSpPr>
          <p:cNvPr id="10" name="Shape 7"/>
          <p:cNvSpPr/>
          <p:nvPr/>
        </p:nvSpPr>
        <p:spPr>
          <a:xfrm>
            <a:off x="5602072" y="2203704"/>
            <a:ext cx="987552" cy="987552"/>
          </a:xfrm>
          <a:prstGeom prst="ellipse">
            <a:avLst/>
          </a:prstGeom>
          <a:solidFill>
            <a:srgbClr val="5A3E9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084" y="2440716"/>
            <a:ext cx="513527" cy="513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4250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2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prośba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49114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 poproszę nauczyciela, zamiast pytać tylko AI.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09509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F0EEF6"/>
          </a:solidFill>
          <a:ln/>
        </p:spPr>
      </p:sp>
      <p:sp>
        <p:nvSpPr>
          <p:cNvPr id="15" name="Shape 11"/>
          <p:cNvSpPr/>
          <p:nvPr/>
        </p:nvSpPr>
        <p:spPr>
          <a:xfrm>
            <a:off x="9336786" y="2203704"/>
            <a:ext cx="987552" cy="987552"/>
          </a:xfrm>
          <a:prstGeom prst="ellipse">
            <a:avLst/>
          </a:prstGeom>
          <a:solidFill>
            <a:srgbClr val="5A3E9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98" y="2440716"/>
            <a:ext cx="513527" cy="513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8965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2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 pytanie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83829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Czego nie wiem o bezpieczeństwie swoich danych.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5166360"/>
            <a:ext cx="10911535" cy="978408"/>
          </a:xfrm>
          <a:prstGeom prst="roundRect">
            <a:avLst>
              <a:gd name="adj" fmla="val 7477"/>
            </a:avLst>
          </a:prstGeom>
          <a:solidFill>
            <a:srgbClr val="F5F7F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548182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5221224"/>
            <a:ext cx="9631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Ktoś w sieci naciska, grozi albo prosi Cię o zdjęcia i dane? Nie odpowiadaj i pokaż to dorosłemu. To nie Twoja wina i nie Twoja sprawa do rozwiązania samemu.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7 · Higiena cyfrowa, AI i krytyczne myślenie · ZSZ5 we Wrocławiu · 2026/2027</a:t>
            </a:r>
            <a:endParaRPr lang="en-US" sz="950" dirty="0"/>
          </a:p>
        </p:txBody>
      </p:sp>
      <p:pic>
        <p:nvPicPr>
          <p:cNvPr id="23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Zespół Szkół Zawodowych nr 5 we Wrocławiu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Higiena cyfrowa, AI i krytyczne myślenie</dc:title>
  <dc:subject>Lekcja wychowawcza 2026/2027</dc:subject>
  <dc:creator>ZSZ5 we Wrocławiu</dc:creator>
  <cp:lastModifiedBy>ZSZ5 we Wrocławiu</cp:lastModifiedBy>
  <cp:revision>1</cp:revision>
  <dcterms:created xsi:type="dcterms:W3CDTF">2026-08-10T20:23:32Z</dcterms:created>
  <dcterms:modified xsi:type="dcterms:W3CDTF">2026-08-10T20:23:32Z</dcterms:modified>
</cp:coreProperties>
</file>