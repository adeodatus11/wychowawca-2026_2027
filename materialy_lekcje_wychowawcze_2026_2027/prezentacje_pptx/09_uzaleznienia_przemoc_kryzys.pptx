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Czas całej lekcji: 30 minut. Grupa: wszystkie klasy. Na slajdach i w ćwiczeniu nie pojawiają się dane osobowe ani przykłady pozwalające rozpoznać konkretnego ucznia. Temat wrażliwy: prowadź spokojnie, nie zbieraj osobistych historii na forum, zapowiedz możliwość rozmowy indywidualnej po lekcji. Po slajdach przejdź do ćwiczenia 'Sygnały i reakcje'.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Kieruj uwagę na małe, wykonalne działanie. Uczniowie często nie reagują, bo myślą, że muszą rozwiązać cały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Ton całej lekcji ustawiasz tutaj. Bez dramatyzowania, bez opowieści o „przypadkach”.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 pytaj, czy ktoś rozpoznaje u siebie te sygnały. Powiedz, gdzie można o tym porozmawiać po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Wspólny mianownik nazwij wprost: nie ilość czasu, ale utrata kontroli i koszty w innych obszarach życia.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Trzeci punkt z prawej kolumny wyjaśnij spokojnie: obietnica milczenia w sytuacji zagrożenia jest obietnicą, której nie można dotrzymać.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najważniejszy slajd praktyczny. Poświęć mu więcej czasu niż pozostałym.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Podaj też nazwiska i godziny dyżurów pedagoga i psychologa w ZSZ5. Warto zostawić te numery na tablicy albo wysłać przez dziennik.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Sygnały i reakcje: uczniowie przypisują sytuacje do reakcji: rozmowa, wsparcie rówieśnicze, wychowawca, pedagog/psycholog, natychmiastowa pomoc dorosłego. Na slajdach i w ćwiczeniu nie pojawiają się dane osobowe ani przykłady pozwalające rozpoznać konkretnego ucznia. Jeśli ktoś zacznie mówić o sobie, przerwij delikatnie i zaproponuj rozmowę po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Zakończ spokojnie i konkretnie. Zostaw numery widoczne przez chwilę po zakończeniu lekcji.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1325880"/>
            <a:ext cx="3749040" cy="3749040"/>
          </a:xfrm>
          <a:prstGeom prst="ellipse">
            <a:avLst/>
          </a:prstGeom>
          <a:solidFill>
            <a:srgbClr val="F8EDEE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1828800"/>
            <a:ext cx="2743200" cy="2743200"/>
          </a:xfrm>
          <a:prstGeom prst="ellipse">
            <a:avLst/>
          </a:prstGeom>
          <a:solidFill>
            <a:srgbClr val="EFD6D9"/>
          </a:solidFill>
          <a:ln/>
        </p:spPr>
      </p:sp>
      <p:sp>
        <p:nvSpPr>
          <p:cNvPr id="4" name="Shape 2"/>
          <p:cNvSpPr/>
          <p:nvPr/>
        </p:nvSpPr>
        <p:spPr>
          <a:xfrm>
            <a:off x="9171432" y="2267712"/>
            <a:ext cx="1865376" cy="1865376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0" y="2720340"/>
            <a:ext cx="960120" cy="960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868680"/>
            <a:ext cx="841248" cy="841248"/>
          </a:xfrm>
          <a:prstGeom prst="ellipse">
            <a:avLst/>
          </a:prstGeom>
          <a:solidFill>
            <a:srgbClr val="F1DBD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86868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2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691640" y="10149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LEKCJA WYCHOWAWCZA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691640" y="12801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ZSZ5 we Wrocławiu · rok szkolny 2026/2027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2103120"/>
            <a:ext cx="7360920" cy="173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Uzależnienia behawioralne,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przemoc rówieśnicza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kryzys psychiczny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0080" y="4072128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lekcja nie jest o straszeniu. Jest o rozpoznawaniu sygnałów i o tym, że szybkie zgłoszenie jest działaniem ochronnym, nie donosem.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40080" y="5074920"/>
            <a:ext cx="1192378" cy="475488"/>
          </a:xfrm>
          <a:prstGeom prst="roundRect">
            <a:avLst>
              <a:gd name="adj" fmla="val 96154"/>
            </a:avLst>
          </a:prstGeom>
          <a:solidFill>
            <a:srgbClr val="F5E6E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5202936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5074920"/>
            <a:ext cx="6803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0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033626" y="5074920"/>
            <a:ext cx="1819656" cy="475488"/>
          </a:xfrm>
          <a:prstGeom prst="roundRect">
            <a:avLst>
              <a:gd name="adj" fmla="val 96154"/>
            </a:avLst>
          </a:prstGeom>
          <a:solidFill>
            <a:srgbClr val="F5E6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074" y="5202936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72538" y="5074920"/>
            <a:ext cx="1307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00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klasy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19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WEJŚCIE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Zacznijmy od sytuacji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10911535" cy="3611880"/>
          </a:xfrm>
          <a:prstGeom prst="roundRect">
            <a:avLst>
              <a:gd name="adj" fmla="val 2532"/>
            </a:avLst>
          </a:prstGeom>
          <a:solidFill>
            <a:srgbClr val="F5E6E7"/>
          </a:solidFill>
          <a:ln/>
        </p:spPr>
      </p:sp>
      <p:sp>
        <p:nvSpPr>
          <p:cNvPr id="5" name="Shape 3"/>
          <p:cNvSpPr/>
          <p:nvPr/>
        </p:nvSpPr>
        <p:spPr>
          <a:xfrm>
            <a:off x="987552" y="2884932"/>
            <a:ext cx="1170432" cy="117043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456" y="3165836"/>
            <a:ext cx="608625" cy="6086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938528"/>
            <a:ext cx="830549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Kolega z klasy od dwóch tygodni siedzi sam, przestał odpowiadać na wiadomości i coraz częściej go nie ma. Co możesz zrobić dzisiaj?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5522976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" y="5440680"/>
            <a:ext cx="104543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musisz nic naprawiać ani stawiać diagnozy. Wystarczy jedno pytanie do niego i jedno zdanie do dorosłego.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11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MEN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Skąd bierze się temat tej lekcji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11535" cy="2148840"/>
          </a:xfrm>
          <a:prstGeom prst="roundRect">
            <a:avLst>
              <a:gd name="adj" fmla="val 4255"/>
            </a:avLst>
          </a:prstGeom>
          <a:solidFill>
            <a:srgbClr val="F5E6E7"/>
          </a:solidFill>
          <a:ln/>
        </p:spPr>
      </p:sp>
      <p:sp>
        <p:nvSpPr>
          <p:cNvPr id="5" name="Shape 3"/>
          <p:cNvSpPr/>
          <p:nvPr/>
        </p:nvSpPr>
        <p:spPr>
          <a:xfrm>
            <a:off x="978408" y="2327148"/>
            <a:ext cx="877824" cy="8778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9086" y="2537826"/>
            <a:ext cx="456468" cy="456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1920240"/>
            <a:ext cx="86712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50" b="1" dirty="0">
                <a:solidFill>
                  <a:srgbClr val="5C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Profilaktyka uzależnień behawioralnych i przemocy rówieśniczej, zdrowie psychiczne oraz reagowanie w sytuacjach kryzysowych.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2240280" y="3364992"/>
            <a:ext cx="8671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Kierunki polityki oświatowej państwa na rok szkolny 2026/2027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0" name="Shape 7"/>
          <p:cNvSpPr/>
          <p:nvPr/>
        </p:nvSpPr>
        <p:spPr>
          <a:xfrm>
            <a:off x="886968" y="4498848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4652467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96112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Sygnały da się zauważyć wcześnie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62602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4" name="Shape 10"/>
          <p:cNvSpPr/>
          <p:nvPr/>
        </p:nvSpPr>
        <p:spPr>
          <a:xfrm>
            <a:off x="4609490" y="4498848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110" y="4652467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8634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Zgłoszenie chroni, nie karze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085125" y="4251960"/>
            <a:ext cx="3466490" cy="1892808"/>
          </a:xfrm>
          <a:prstGeom prst="roundRect">
            <a:avLst>
              <a:gd name="adj" fmla="val 3865"/>
            </a:avLst>
          </a:prstGeom>
          <a:solidFill>
            <a:srgbClr val="F5F7FA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2013" y="4498848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4652467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341157" y="5221224"/>
            <a:ext cx="295442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Kryzys jest sytuacją, nie cechą człowieka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22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ROZPOZNANIE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Sygnały ryzyka — u siebie i u innych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8EDE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Wycofanie i nagła zmiana zachowania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Osoba, która była w grupie, zaczyna być osobno. Zmiana jest wyraźna, nie subtelna.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Spadek frekwencji i ocen bez wyjaśnienia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Dziennik często pokazuje kryzys szybciej niż rozmowa.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8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Utrata kontroli nad czasem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Gry, telefon, media, zakłady: „jeszcze pięć minut”, które zamienia się w noc.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Żarty, wykluczanie, upokarzanie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klasie albo w sieci. Powtarzalność i nierówność sił zamieniają żart w przemoc.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UZALEŻNIENIA BEHAWIORALNE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Uzależnić można się nie tylko od substancji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8EDEE"/>
          </a:solidFill>
          <a:ln/>
        </p:spPr>
      </p:sp>
      <p:sp>
        <p:nvSpPr>
          <p:cNvPr id="5" name="Shape 3"/>
          <p:cNvSpPr/>
          <p:nvPr/>
        </p:nvSpPr>
        <p:spPr>
          <a:xfrm>
            <a:off x="1891741" y="2057400"/>
            <a:ext cx="950976" cy="950976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975" y="2285634"/>
            <a:ext cx="494508" cy="494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rośnie, kontrola spada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i szkoła schodzą na drugi plan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złość, gdy ktoś przerywa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8EDEE"/>
          </a:solidFill>
          <a:ln/>
        </p:spPr>
      </p:sp>
      <p:sp>
        <p:nvSpPr>
          <p:cNvPr id="10" name="Shape 7"/>
          <p:cNvSpPr/>
          <p:nvPr/>
        </p:nvSpPr>
        <p:spPr>
          <a:xfrm>
            <a:off x="5620360" y="2057400"/>
            <a:ext cx="950976" cy="950976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594" y="2285634"/>
            <a:ext cx="494508" cy="4945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9866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 i media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1306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potrzeba ciągłego sprawdzania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porównywanie się z innymi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pogorszenie snu i nastroju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97317" y="1783080"/>
            <a:ext cx="3454298" cy="4270248"/>
          </a:xfrm>
          <a:prstGeom prst="roundRect">
            <a:avLst>
              <a:gd name="adj" fmla="val 2382"/>
            </a:avLst>
          </a:prstGeom>
          <a:solidFill>
            <a:srgbClr val="F8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348978" y="2057400"/>
            <a:ext cx="950976" cy="950976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212" y="2285634"/>
            <a:ext cx="494508" cy="4945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98485" y="3118104"/>
            <a:ext cx="305196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Hazard i zakłady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89925" y="3886200"/>
            <a:ext cx="2905658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„odegram się” jako pułapka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pożyczanie pieniędzy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ukrywanie skali problemu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2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PRZEMOC RÓWIEŚNICZA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reagować, gdy dzieje się to obok Ciebie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0F6F2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" y="2002536"/>
            <a:ext cx="640080" cy="640080"/>
          </a:xfrm>
          <a:prstGeom prst="ellipse">
            <a:avLst/>
          </a:prstGeom>
          <a:solidFill>
            <a:srgbClr val="2C7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587" y="21561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Tak, tak reagujemy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4128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Nazywam to przemocą, a nie „żartem, który się nie udał”.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Zapisuję fakty: co, gdzie i kiedy się stało.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Zgłaszam wychowawcy, pedagogowi albo innemu dorosłemu.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Wspieram osobę pokrzywdzoną: jedno zdanie „to nie twoja wina” już działa.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87872" y="1755648"/>
            <a:ext cx="5263744" cy="4389120"/>
          </a:xfrm>
          <a:prstGeom prst="roundRect">
            <a:avLst>
              <a:gd name="adj" fmla="val 2083"/>
            </a:avLst>
          </a:prstGeom>
          <a:solidFill>
            <a:srgbClr val="FAF0F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4760" y="2002536"/>
            <a:ext cx="640080" cy="640080"/>
          </a:xfrm>
          <a:prstGeom prst="ellipse">
            <a:avLst/>
          </a:prstGeom>
          <a:solidFill>
            <a:srgbClr val="B4232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379" y="21561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85152" y="1993392"/>
            <a:ext cx="393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E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Tego nie robimy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71920" y="2871216"/>
            <a:ext cx="453222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udostępniam nagrania ani zrzutu ekranu dalej.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śmieję się, żeby nie wypaść z grupy.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obiecuję tajemnicy, gdy zagrożone jest zdrowie albo życie.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zostaję z tym sam i nie czekam, aż „samo przejdzie”.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15" name="Image 2" descr="/sessions/compassionate-clever-carson/mnt/outputs/build/logo_t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DRABINA REAKCJI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poziomy — im wyżej, tym szybciej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7EBEC"/>
          </a:solidFill>
          <a:ln/>
        </p:spPr>
      </p:sp>
      <p:sp>
        <p:nvSpPr>
          <p:cNvPr id="5" name="Shape 3"/>
          <p:cNvSpPr/>
          <p:nvPr/>
        </p:nvSpPr>
        <p:spPr>
          <a:xfrm>
            <a:off x="1530820" y="1883664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/>
          <p:nvPr/>
        </p:nvSpPr>
        <p:spPr>
          <a:xfrm>
            <a:off x="1530820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Rozmawiam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Pytam wprost: „wszystko w porządku?”. Bez rady, bez oceny.</a:t>
            </a:r>
            <a:endParaRPr lang="en-US" sz="12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080" y="3282696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63976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7EBEC"/>
          </a:solidFill>
          <a:ln/>
        </p:spPr>
      </p:sp>
      <p:sp>
        <p:nvSpPr>
          <p:cNvPr id="11" name="Shape 8"/>
          <p:cNvSpPr/>
          <p:nvPr/>
        </p:nvSpPr>
        <p:spPr>
          <a:xfrm>
            <a:off x="4354716" y="1883664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2" name="Text 9"/>
          <p:cNvSpPr/>
          <p:nvPr/>
        </p:nvSpPr>
        <p:spPr>
          <a:xfrm>
            <a:off x="4354716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3665144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Wspieram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01720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zostawiam osoby samej, siadam obok, odpisuję.</a:t>
            </a:r>
            <a:endParaRPr lang="en-US" sz="12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6976" y="3282696"/>
            <a:ext cx="237744" cy="23774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87872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7EBEC"/>
          </a:solidFill>
          <a:ln/>
        </p:spPr>
      </p:sp>
      <p:sp>
        <p:nvSpPr>
          <p:cNvPr id="17" name="Shape 13"/>
          <p:cNvSpPr/>
          <p:nvPr/>
        </p:nvSpPr>
        <p:spPr>
          <a:xfrm>
            <a:off x="7178612" y="1883664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8" name="Text 14"/>
          <p:cNvSpPr/>
          <p:nvPr/>
        </p:nvSpPr>
        <p:spPr>
          <a:xfrm>
            <a:off x="7178612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6489040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Zgłaszam dorosłemu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525616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Wychowawca, pedagog, psycholog. Podaję fakty.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871" y="3282696"/>
            <a:ext cx="237744" cy="23774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111767" y="2212848"/>
            <a:ext cx="2439848" cy="2377440"/>
          </a:xfrm>
          <a:prstGeom prst="roundRect">
            <a:avLst>
              <a:gd name="adj" fmla="val 3462"/>
            </a:avLst>
          </a:prstGeom>
          <a:solidFill>
            <a:srgbClr val="F7EBEC"/>
          </a:solidFill>
          <a:ln/>
        </p:spPr>
      </p:sp>
      <p:sp>
        <p:nvSpPr>
          <p:cNvPr id="23" name="Shape 18"/>
          <p:cNvSpPr/>
          <p:nvPr/>
        </p:nvSpPr>
        <p:spPr>
          <a:xfrm>
            <a:off x="10002507" y="1883664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4" name="Text 19"/>
          <p:cNvSpPr/>
          <p:nvPr/>
        </p:nvSpPr>
        <p:spPr>
          <a:xfrm>
            <a:off x="10002507" y="1883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312935" y="2715768"/>
            <a:ext cx="2037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Natychmiastowa pomoc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9349511" y="3310128"/>
            <a:ext cx="196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Zagrożenie zdrowia lub życia: dorosły od razu, w razie potrzeby 112.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40080" y="4956048"/>
            <a:ext cx="10911535" cy="1188720"/>
          </a:xfrm>
          <a:prstGeom prst="roundRect">
            <a:avLst>
              <a:gd name="adj" fmla="val 6154"/>
            </a:avLst>
          </a:prstGeom>
          <a:solidFill>
            <a:srgbClr val="F5F7FA"/>
          </a:solidFill>
          <a:ln/>
        </p:spPr>
      </p:sp>
      <p:sp>
        <p:nvSpPr>
          <p:cNvPr id="28" name="Text 23"/>
          <p:cNvSpPr/>
          <p:nvPr/>
        </p:nvSpPr>
        <p:spPr>
          <a:xfrm>
            <a:off x="1097280" y="4956048"/>
            <a:ext cx="9997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wahasz się między poziomem trzecim a czwartym — wybierz czwarty. Nadmiarowa reakcja nie zaszkodzi.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SZUKAĆ POMOCY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Konkretne miejsca i numery — także po godzinach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37944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8EDE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07108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2156338"/>
            <a:ext cx="323332" cy="3233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55648" y="1972361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Wychowawca, pedagog, psycholog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577840" y="1972361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Pierwszy adres w szkole. Można przyjść samemu i bez zapowiedzi.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40080" y="2944368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3113532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342" y="3262762"/>
            <a:ext cx="323332" cy="3233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55648" y="3078785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116 111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577840" y="3078785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zaufania dla dzieci i młodzieży. Całodobowy, bezpłatny i anonimowy.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4050792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8ED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4219956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369186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55648" y="4185209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800 12 12 12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577840" y="4185209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Dziecięcy Telefon Zaufania Rzecznika Praw Dziecka. Całodobowy i bezpłatny.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40080" y="5157216"/>
            <a:ext cx="10911535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5326380"/>
            <a:ext cx="621792" cy="62179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342" y="5475610"/>
            <a:ext cx="323332" cy="3233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55648" y="5291633"/>
            <a:ext cx="3611880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577840" y="5291633"/>
            <a:ext cx="5699455" cy="691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Zagrożenie zdrowia lub życia. Dzwonisz od razu, nie czekasz na pewność.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25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ĆWICZENIE GŁÓWNE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Sygnały i reakcje: dopasuj poziom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14255" y="658368"/>
            <a:ext cx="1737360" cy="566928"/>
          </a:xfrm>
          <a:prstGeom prst="roundRect">
            <a:avLst>
              <a:gd name="adj" fmla="val 80645"/>
            </a:avLst>
          </a:prstGeom>
          <a:solidFill>
            <a:srgbClr val="99001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567" y="822960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44607" y="658368"/>
            <a:ext cx="1115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10911535" cy="1152144"/>
          </a:xfrm>
          <a:prstGeom prst="roundRect">
            <a:avLst>
              <a:gd name="adj" fmla="val 7143"/>
            </a:avLst>
          </a:prstGeom>
          <a:solidFill>
            <a:srgbClr val="F5E6E7"/>
          </a:solidFill>
          <a:ln/>
        </p:spPr>
      </p:sp>
      <p:sp>
        <p:nvSpPr>
          <p:cNvPr id="8" name="Shape 5"/>
          <p:cNvSpPr/>
          <p:nvPr/>
        </p:nvSpPr>
        <p:spPr>
          <a:xfrm>
            <a:off x="923544" y="1773936"/>
            <a:ext cx="804672" cy="80467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65" y="1967057"/>
            <a:ext cx="418429" cy="418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1728216"/>
            <a:ext cx="921989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Grupy przypisują wymyślone sytuacje do poziomu reakcji: rozmowa, wsparcie rówieśnicze, wychowawca, pedagog lub psycholog, natychmiastowa pomoc dorosłego.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0080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2" name="Shape 8"/>
          <p:cNvSpPr/>
          <p:nvPr/>
        </p:nvSpPr>
        <p:spPr>
          <a:xfrm>
            <a:off x="877824" y="3282696"/>
            <a:ext cx="512064" cy="512064"/>
          </a:xfrm>
          <a:prstGeom prst="ellipse">
            <a:avLst/>
          </a:prstGeom>
          <a:solidFill>
            <a:srgbClr val="EBCCCF"/>
          </a:solidFill>
          <a:ln/>
        </p:spPr>
      </p:sp>
      <p:sp>
        <p:nvSpPr>
          <p:cNvPr id="13" name="Text 9"/>
          <p:cNvSpPr/>
          <p:nvPr/>
        </p:nvSpPr>
        <p:spPr>
          <a:xfrm>
            <a:off x="877824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Sytuacje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877824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Krótkie, wymyślone opisy. Rozdaję po kilka na grupę.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56506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17" name="Shape 13"/>
          <p:cNvSpPr/>
          <p:nvPr/>
        </p:nvSpPr>
        <p:spPr>
          <a:xfrm>
            <a:off x="4594250" y="3282696"/>
            <a:ext cx="512064" cy="512064"/>
          </a:xfrm>
          <a:prstGeom prst="ellipse">
            <a:avLst/>
          </a:prstGeom>
          <a:solidFill>
            <a:srgbClr val="EBCCCF"/>
          </a:solidFill>
          <a:ln/>
        </p:spPr>
      </p:sp>
      <p:sp>
        <p:nvSpPr>
          <p:cNvPr id="18" name="Text 14"/>
          <p:cNvSpPr/>
          <p:nvPr/>
        </p:nvSpPr>
        <p:spPr>
          <a:xfrm>
            <a:off x="4594250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594250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Przypisanie poziomu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94250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Grupa wybiera poziom i uzasadnia jednym zdaniem.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072933" y="3063240"/>
            <a:ext cx="3478682" cy="2148840"/>
          </a:xfrm>
          <a:prstGeom prst="roundRect">
            <a:avLst>
              <a:gd name="adj" fmla="val 3404"/>
            </a:avLst>
          </a:prstGeom>
          <a:solidFill>
            <a:srgbClr val="F5F7FA"/>
          </a:solidFill>
          <a:ln/>
        </p:spPr>
      </p:sp>
      <p:sp>
        <p:nvSpPr>
          <p:cNvPr id="22" name="Shape 18"/>
          <p:cNvSpPr/>
          <p:nvPr/>
        </p:nvSpPr>
        <p:spPr>
          <a:xfrm>
            <a:off x="8310677" y="3282696"/>
            <a:ext cx="512064" cy="512064"/>
          </a:xfrm>
          <a:prstGeom prst="ellipse">
            <a:avLst/>
          </a:prstGeom>
          <a:solidFill>
            <a:srgbClr val="EBCCCF"/>
          </a:solidFill>
          <a:ln/>
        </p:spPr>
      </p:sp>
      <p:sp>
        <p:nvSpPr>
          <p:cNvPr id="23" name="Text 19"/>
          <p:cNvSpPr/>
          <p:nvPr/>
        </p:nvSpPr>
        <p:spPr>
          <a:xfrm>
            <a:off x="8310677" y="3282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2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310677" y="3886200"/>
            <a:ext cx="300319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Wspólna lista</a:t>
            </a:r>
            <a:endParaRPr lang="en-US" sz="1450" dirty="0"/>
          </a:p>
        </p:txBody>
      </p:sp>
      <p:sp>
        <p:nvSpPr>
          <p:cNvPr id="25" name="Text 21"/>
          <p:cNvSpPr/>
          <p:nvPr/>
        </p:nvSpPr>
        <p:spPr>
          <a:xfrm>
            <a:off x="8310677" y="4453128"/>
            <a:ext cx="300319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Ustalamy, które sytuacje zawsze wymagają natychmiastowej reakcji dorosłego.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5468112"/>
            <a:ext cx="10911535" cy="676656"/>
          </a:xfrm>
          <a:prstGeom prst="roundRect">
            <a:avLst>
              <a:gd name="adj" fmla="val 9459"/>
            </a:avLst>
          </a:prstGeom>
          <a:solidFill>
            <a:srgbClr val="FBF2F2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669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17320" y="5468112"/>
            <a:ext cx="98599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90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sytuacje są wymyślone. Nie omawiamy zdarzeń z naszej szkoły i nie opowiadamy własnych historii na forum.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30" name="Image 3" descr="/sessions/compassionate-clever-carson/mnt/outputs/build/logo_t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WYJŚCIE Z LEKCJI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22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Wychodzisz z tej lekcji z trzema rzeczami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6E8EA"/>
          </a:solidFill>
          <a:ln/>
        </p:spPr>
      </p:sp>
      <p:sp>
        <p:nvSpPr>
          <p:cNvPr id="5" name="Shape 3"/>
          <p:cNvSpPr/>
          <p:nvPr/>
        </p:nvSpPr>
        <p:spPr>
          <a:xfrm>
            <a:off x="1867357" y="2203704"/>
            <a:ext cx="987552" cy="98755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4370" y="2440716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decyzja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kogo pójdę, jeśli zobaczę przemoc albo kryzys.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74794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6E8EA"/>
          </a:solidFill>
          <a:ln/>
        </p:spPr>
      </p:sp>
      <p:sp>
        <p:nvSpPr>
          <p:cNvPr id="10" name="Shape 7"/>
          <p:cNvSpPr/>
          <p:nvPr/>
        </p:nvSpPr>
        <p:spPr>
          <a:xfrm>
            <a:off x="5602072" y="2203704"/>
            <a:ext cx="987552" cy="98755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084" y="2440716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4250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Jedna prośba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9114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Kogo zapytam „wszystko w porządku?” w tym tygodniu.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9509" y="1874520"/>
            <a:ext cx="3442106" cy="2880360"/>
          </a:xfrm>
          <a:prstGeom prst="roundRect">
            <a:avLst>
              <a:gd name="adj" fmla="val 3175"/>
            </a:avLst>
          </a:prstGeom>
          <a:solidFill>
            <a:srgbClr val="F6E8EA"/>
          </a:solidFill>
          <a:ln/>
        </p:spPr>
      </p:sp>
      <p:sp>
        <p:nvSpPr>
          <p:cNvPr id="15" name="Shape 11"/>
          <p:cNvSpPr/>
          <p:nvPr/>
        </p:nvSpPr>
        <p:spPr>
          <a:xfrm>
            <a:off x="9336786" y="2203704"/>
            <a:ext cx="987552" cy="987552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798" y="2440716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8965" y="3337560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0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 pytanie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83829" y="3813048"/>
            <a:ext cx="28934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45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Czego nie wiem o tym, jak i gdzie zgłaszać.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5166360"/>
            <a:ext cx="10911535" cy="978408"/>
          </a:xfrm>
          <a:prstGeom prst="roundRect">
            <a:avLst>
              <a:gd name="adj" fmla="val 7477"/>
            </a:avLst>
          </a:prstGeom>
          <a:solidFill>
            <a:srgbClr val="F5F7F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548182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00200" y="5221224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sam potrzebujesz rozmowy: pedagog i psycholog w szkole, 116 111 albo 800 12 12 12 — całą dobę, bezpłatnie i anonimowo.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0080" y="6327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Lekcja 9 · Uzależnienia, przemoc, kryzys · ZSZ5 we Wrocławiu · 2026/2027</a:t>
            </a:r>
            <a:endParaRPr lang="en-US" sz="950" dirty="0"/>
          </a:p>
        </p:txBody>
      </p:sp>
      <p:pic>
        <p:nvPicPr>
          <p:cNvPr id="23" name="Image 4" descr="/sessions/compassionate-clever-carson/mnt/outputs/build/logo_t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9975" y="6332963"/>
            <a:ext cx="1691640" cy="263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Zespół Szkół Zawodowych nr 5 we Wrocławiu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Uzależnienia behawioralne, przemoc i kryzys</dc:title>
  <dc:subject>Lekcja wychowawcza 2026/2027</dc:subject>
  <dc:creator>ZSZ5 we Wrocławiu</dc:creator>
  <cp:lastModifiedBy>ZSZ5 we Wrocławiu</cp:lastModifiedBy>
  <cp:revision>1</cp:revision>
  <dcterms:created xsi:type="dcterms:W3CDTF">2026-08-10T20:23:32Z</dcterms:created>
  <dcterms:modified xsi:type="dcterms:W3CDTF">2026-08-10T20:23:32Z</dcterms:modified>
</cp:coreProperties>
</file>