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 całej lekcji: 30 minut. Grupa: wszystkie klasy. Na slajdach i w ćwiczeniu nie pojawiają się dane osobowe ani przykłady pozwalające rozpoznać konkretnego ucznia. Po slajdach przejdź do ćwiczenia 'Drabina reakcji'.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najważniejszy moment lekcji. Nazwij mechanizm rozproszonej odpowiedzialności bez używania terminów naukowych.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Uczniowie nie muszą znać nazwy dokumentu. Muszą wiedzieć, że temat nie jest wymyślony przez wychowawcę.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Zdanie 'zgłoszenie to nie donos' powiedz wprost i powtórz. To najczęstsza blokada w tym wieku.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Zapytaj, czy klasa wie, gdzie jest najbliższe wyjście ewakuacyjne i gdzie zbiórka. Jeśli nie – to gotowe zadanie na koniec lekcji.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Jeśli brakuje czasu, ten slajd można pominąć.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Zapytaj: która strzałka pęka najczęściej w naszej klasie? Zwykle uczniowie wskazują 'kontakt' – nie mówią o trudności, dopóki nie jest duża.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Drabina reakcji: uczniowie ustawiają sytuacje od 'rozwiązuję sam' do 'natychmiast zgłaszam dorosłemu'. Na slajdach i w ćwiczeniu nie pojawiają się dane osobowe ani przykłady pozwalające rozpoznać konkretnego ucznia. Na górze drabiny zawsze znajdują się: zagrożenie zdrowia lub życia, przemoc, groźby.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Zamknij lekcję jednym zdaniem o zgłaszaniu. To komunikat, który ma zostać.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325880"/>
            <a:ext cx="3749040" cy="3749040"/>
          </a:xfrm>
          <a:prstGeom prst="ellipse">
            <a:avLst/>
          </a:prstGeom>
          <a:solidFill>
            <a:srgbClr val="F0F4F0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1828800"/>
            <a:ext cx="2743200" cy="2743200"/>
          </a:xfrm>
          <a:prstGeom prst="ellipse">
            <a:avLst/>
          </a:prstGeom>
          <a:solidFill>
            <a:srgbClr val="DDE5DD"/>
          </a:solidFill>
          <a:ln/>
        </p:spPr>
      </p:sp>
      <p:sp>
        <p:nvSpPr>
          <p:cNvPr id="4" name="Shape 2"/>
          <p:cNvSpPr/>
          <p:nvPr/>
        </p:nvSpPr>
        <p:spPr>
          <a:xfrm>
            <a:off x="9171432" y="2267712"/>
            <a:ext cx="1865376" cy="186537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0" y="2720340"/>
            <a:ext cx="960120" cy="960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868680"/>
            <a:ext cx="841248" cy="841248"/>
          </a:xfrm>
          <a:prstGeom prst="ellipse">
            <a:avLst/>
          </a:prstGeom>
          <a:solidFill>
            <a:srgbClr val="E1E9E2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8686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5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691640" y="10149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LEKCJA WYCHOWAWCZA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691640" y="1280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ZSZ5 we Wrocławiu · rok szkolny 2026/2027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1874520"/>
            <a:ext cx="7360920" cy="198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Odporność społeczna:</a:t>
            </a:r>
            <a:endParaRPr lang="en-US" sz="33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patriotyzm, obywatelskość</a:t>
            </a:r>
            <a:endParaRPr lang="en-US" sz="33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bezpieczeństwo</a:t>
            </a:r>
            <a:endParaRPr lang="en-US" sz="33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co dzień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640080" y="4097528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Odporność społeczna nie zaczyna się od wielkich słów. Zaczyna się od tego, czy ktoś zareaguje, kiedy dzieje się coś złego.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40080" y="5074920"/>
            <a:ext cx="1192378" cy="475488"/>
          </a:xfrm>
          <a:prstGeom prst="roundRect">
            <a:avLst>
              <a:gd name="adj" fmla="val 96154"/>
            </a:avLst>
          </a:prstGeom>
          <a:solidFill>
            <a:srgbClr val="EAEFE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520293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8992" y="5074920"/>
            <a:ext cx="6803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4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033626" y="5074920"/>
            <a:ext cx="1819656" cy="475488"/>
          </a:xfrm>
          <a:prstGeom prst="roundRect">
            <a:avLst>
              <a:gd name="adj" fmla="val 96154"/>
            </a:avLst>
          </a:prstGeom>
          <a:solidFill>
            <a:srgbClr val="EAEFE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074" y="520293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72538" y="5074920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4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klasy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5 · Odporność społeczna i bezpieczeństwo · ZSZ5 we Wrocławiu · 2026/2027</a:t>
            </a:r>
            <a:endParaRPr lang="en-US" sz="950" dirty="0"/>
          </a:p>
        </p:txBody>
      </p:sp>
      <p:pic>
        <p:nvPicPr>
          <p:cNvPr id="19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WEJŚCIE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Zacznijmy od sytuacji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10911535" cy="3611880"/>
          </a:xfrm>
          <a:prstGeom prst="roundRect">
            <a:avLst>
              <a:gd name="adj" fmla="val 2532"/>
            </a:avLst>
          </a:prstGeom>
          <a:solidFill>
            <a:srgbClr val="EAEFEA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2884932"/>
            <a:ext cx="1170432" cy="1170432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456" y="3165836"/>
            <a:ext cx="608625" cy="6086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1938528"/>
            <a:ext cx="830549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1A3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szatni ktoś nagrywa kolegę, który się przewrócił, i wysyła to na grupę. Ile osób musi powiedzieć „nie wysyłaj”, żeby to się nie rozniosło?</a:t>
            </a:r>
            <a:endParaRPr lang="en-US" sz="2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552297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5440680"/>
            <a:ext cx="104543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Zwykle wystarczy jedna. Problem polega na tym, że każdy czeka, aż będzie to ktoś inny.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5 · Odporność społeczna i bezpieczeństwo · ZSZ5 we Wrocławiu · 2026/2027</a:t>
            </a:r>
            <a:endParaRPr lang="en-US" sz="950" dirty="0"/>
          </a:p>
        </p:txBody>
      </p:sp>
      <p:pic>
        <p:nvPicPr>
          <p:cNvPr id="11" name="Image 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PRIORYTET MEN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Skąd bierze się temat tej lekcji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2148840"/>
          </a:xfrm>
          <a:prstGeom prst="roundRect">
            <a:avLst>
              <a:gd name="adj" fmla="val 4255"/>
            </a:avLst>
          </a:prstGeom>
          <a:solidFill>
            <a:srgbClr val="EAEFEA"/>
          </a:solidFill>
          <a:ln/>
        </p:spPr>
      </p:sp>
      <p:sp>
        <p:nvSpPr>
          <p:cNvPr id="5" name="Shape 3"/>
          <p:cNvSpPr/>
          <p:nvPr/>
        </p:nvSpPr>
        <p:spPr>
          <a:xfrm>
            <a:off x="978408" y="2327148"/>
            <a:ext cx="877824" cy="87782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086" y="2537826"/>
            <a:ext cx="456468" cy="456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280" y="1920240"/>
            <a:ext cx="86712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50" b="1" dirty="0">
                <a:solidFill>
                  <a:srgbClr val="1A39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Szkoła miejscem budowania odporności społecznej: postawy patriotyczne, obywatelskie, prospołeczne i odpowiedzialność za bezpieczeństwo.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2240280" y="3364992"/>
            <a:ext cx="8671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Kierunki polityki oświatowej państwa na rok szkolny 2026/2027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4251960"/>
            <a:ext cx="3466490" cy="1892808"/>
          </a:xfrm>
          <a:prstGeom prst="roundRect">
            <a:avLst>
              <a:gd name="adj" fmla="val 3865"/>
            </a:avLst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886968" y="4498848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87" y="4652467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96112" y="5221224"/>
            <a:ext cx="295442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Wspólnota, która działa, a nie tylko istnieje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362602" y="4251960"/>
            <a:ext cx="3466490" cy="1892808"/>
          </a:xfrm>
          <a:prstGeom prst="roundRect">
            <a:avLst>
              <a:gd name="adj" fmla="val 3865"/>
            </a:avLst>
          </a:prstGeom>
          <a:solidFill>
            <a:srgbClr val="F5F7FA"/>
          </a:solidFill>
          <a:ln/>
        </p:spPr>
      </p:sp>
      <p:sp>
        <p:nvSpPr>
          <p:cNvPr id="14" name="Shape 10"/>
          <p:cNvSpPr/>
          <p:nvPr/>
        </p:nvSpPr>
        <p:spPr>
          <a:xfrm>
            <a:off x="4609490" y="4498848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110" y="4652467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8634" y="5221224"/>
            <a:ext cx="295442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Procedury, które znam przed sytuacją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085125" y="4251960"/>
            <a:ext cx="3466490" cy="1892808"/>
          </a:xfrm>
          <a:prstGeom prst="roundRect">
            <a:avLst>
              <a:gd name="adj" fmla="val 3865"/>
            </a:avLst>
          </a:prstGeom>
          <a:solidFill>
            <a:srgbClr val="F5F7FA"/>
          </a:solidFill>
          <a:ln/>
        </p:spPr>
      </p:sp>
      <p:sp>
        <p:nvSpPr>
          <p:cNvPr id="18" name="Shape 13"/>
          <p:cNvSpPr/>
          <p:nvPr/>
        </p:nvSpPr>
        <p:spPr>
          <a:xfrm>
            <a:off x="8332013" y="4498848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4652467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41157" y="5221224"/>
            <a:ext cx="295442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Reagowanie zamiast patrzenia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5 · Odporność społeczna i bezpieczeństwo · ZSZ5 we Wrocławiu · 2026/2027</a:t>
            </a:r>
            <a:endParaRPr lang="en-US" sz="950" dirty="0"/>
          </a:p>
        </p:txBody>
      </p:sp>
      <p:pic>
        <p:nvPicPr>
          <p:cNvPr id="22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CODZIENNOŚĆ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Odporność społeczna zaczyna się od trzech zachowań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F0F4F0"/>
          </a:solidFill>
          <a:ln/>
        </p:spPr>
      </p:sp>
      <p:sp>
        <p:nvSpPr>
          <p:cNvPr id="5" name="Shape 3"/>
          <p:cNvSpPr/>
          <p:nvPr/>
        </p:nvSpPr>
        <p:spPr>
          <a:xfrm>
            <a:off x="1891741" y="2057400"/>
            <a:ext cx="950976" cy="95097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9975" y="2285634"/>
            <a:ext cx="494508" cy="4945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A3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Reaguję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32688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udaję, że nie widzę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 zdanie wystarcza, by przerwać sytuację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muszę być bohaterem, żeby pomóc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68698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F0F4F0"/>
          </a:solidFill>
          <a:ln/>
        </p:spPr>
      </p:sp>
      <p:sp>
        <p:nvSpPr>
          <p:cNvPr id="10" name="Shape 7"/>
          <p:cNvSpPr/>
          <p:nvPr/>
        </p:nvSpPr>
        <p:spPr>
          <a:xfrm>
            <a:off x="5620360" y="2057400"/>
            <a:ext cx="950976" cy="95097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594" y="2285634"/>
            <a:ext cx="494508" cy="4945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9866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A3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Informuję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1306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zgłoszenie to nie donos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mówię dorosłemu, gdy sytuacja mnie przerasta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podaję fakty: co, gdzie, kiedy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97317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F0F4F0"/>
          </a:solidFill>
          <a:ln/>
        </p:spPr>
      </p:sp>
      <p:sp>
        <p:nvSpPr>
          <p:cNvPr id="15" name="Shape 11"/>
          <p:cNvSpPr/>
          <p:nvPr/>
        </p:nvSpPr>
        <p:spPr>
          <a:xfrm>
            <a:off x="9348978" y="2057400"/>
            <a:ext cx="950976" cy="95097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212" y="2285634"/>
            <a:ext cx="494508" cy="4945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98485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A3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Dbam o innych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89925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sprawdzam, jak się czuje osoba obok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zostawiam nikogo samego z problemem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śmieję się „bo to tylko żart”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5 · Odporność społeczna i bezpieczeństwo · ZSZ5 we Wrocławiu · 2026/2027</a:t>
            </a:r>
            <a:endParaRPr lang="en-US" sz="950" dirty="0"/>
          </a:p>
        </p:txBody>
      </p:sp>
      <p:pic>
        <p:nvPicPr>
          <p:cNvPr id="2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PATRIOTYZM I OBYWATELSKOŚĆ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to wygląda poza akademią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37944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F0F4F0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007108"/>
            <a:ext cx="621792" cy="621792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342" y="2156338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1972361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Symbole i święta państwowe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77840" y="1972361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Wiem, jak się zachować i dlaczego to nie jest tylko formalność.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944368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3113532"/>
            <a:ext cx="621792" cy="621792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342" y="3262762"/>
            <a:ext cx="323332" cy="323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55648" y="3078785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Samorząd klasowy i szkolny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77840" y="3078785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Realne decyzje i realna odpowiedzialność, nie dekoracja na papierze.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050792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F0F4F0"/>
          </a:solidFill>
          <a:ln/>
        </p:spPr>
      </p:sp>
      <p:sp>
        <p:nvSpPr>
          <p:cNvPr id="15" name="Shape 11"/>
          <p:cNvSpPr/>
          <p:nvPr/>
        </p:nvSpPr>
        <p:spPr>
          <a:xfrm>
            <a:off x="896112" y="4219956"/>
            <a:ext cx="621792" cy="621792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342" y="4369186"/>
            <a:ext cx="323332" cy="3233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55648" y="4185209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Wolontariat i pomoc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577840" y="4185209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 konkretne działanie waży więcej niż dziesięć deklaracji.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5157216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5326380"/>
            <a:ext cx="621792" cy="621792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342" y="5475610"/>
            <a:ext cx="323332" cy="3233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55648" y="5291633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Procedury bezpieczeństwa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577840" y="5291633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Ewakuacja, alarm, pierwsza pomoc, numery alarmowe. Znam je zanim będą potrzebne.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5 · Odporność społeczna i bezpieczeństwo · ZSZ5 we Wrocławiu · 2026/2027</a:t>
            </a:r>
            <a:endParaRPr lang="en-US" sz="950" dirty="0"/>
          </a:p>
        </p:txBody>
      </p:sp>
      <p:pic>
        <p:nvPicPr>
          <p:cNvPr id="25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SŁOWA KLUCZOWE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Pięć słów, które zostają po tej lekcji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992112" cy="2286000"/>
          </a:xfrm>
          <a:prstGeom prst="roundRect">
            <a:avLst>
              <a:gd name="adj" fmla="val 4131"/>
            </a:avLst>
          </a:prstGeom>
          <a:solidFill>
            <a:srgbClr val="ECF1EC"/>
          </a:solidFill>
          <a:ln/>
        </p:spPr>
      </p:sp>
      <p:sp>
        <p:nvSpPr>
          <p:cNvPr id="5" name="Shape 3"/>
          <p:cNvSpPr/>
          <p:nvPr/>
        </p:nvSpPr>
        <p:spPr>
          <a:xfrm>
            <a:off x="1206368" y="2249424"/>
            <a:ext cx="859536" cy="85953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2657" y="2455713"/>
            <a:ext cx="446959" cy="4469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A3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Wspólnota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68096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 jako grupa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869936" y="1965960"/>
            <a:ext cx="1992112" cy="2286000"/>
          </a:xfrm>
          <a:prstGeom prst="roundRect">
            <a:avLst>
              <a:gd name="adj" fmla="val 4131"/>
            </a:avLst>
          </a:prstGeom>
          <a:solidFill>
            <a:srgbClr val="ECF1EC"/>
          </a:solidFill>
          <a:ln/>
        </p:spPr>
      </p:sp>
      <p:sp>
        <p:nvSpPr>
          <p:cNvPr id="10" name="Shape 7"/>
          <p:cNvSpPr/>
          <p:nvPr/>
        </p:nvSpPr>
        <p:spPr>
          <a:xfrm>
            <a:off x="3436224" y="2249424"/>
            <a:ext cx="859536" cy="85953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512" y="2455713"/>
            <a:ext cx="446959" cy="4469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9664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A3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Odpowiedzialność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2997952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moja, nie „czyjaś”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99792" y="1965960"/>
            <a:ext cx="1992112" cy="2286000"/>
          </a:xfrm>
          <a:prstGeom prst="roundRect">
            <a:avLst>
              <a:gd name="adj" fmla="val 4131"/>
            </a:avLst>
          </a:prstGeom>
          <a:solidFill>
            <a:srgbClr val="ECF1EC"/>
          </a:solidFill>
          <a:ln/>
        </p:spPr>
      </p:sp>
      <p:sp>
        <p:nvSpPr>
          <p:cNvPr id="15" name="Shape 11"/>
          <p:cNvSpPr/>
          <p:nvPr/>
        </p:nvSpPr>
        <p:spPr>
          <a:xfrm>
            <a:off x="5666080" y="2249424"/>
            <a:ext cx="859536" cy="85953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368" y="2455713"/>
            <a:ext cx="446959" cy="4469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09520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A3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Bezpieczeństwo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227808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wspólny warunek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329648" y="1965960"/>
            <a:ext cx="1992112" cy="2286000"/>
          </a:xfrm>
          <a:prstGeom prst="roundRect">
            <a:avLst>
              <a:gd name="adj" fmla="val 4131"/>
            </a:avLst>
          </a:prstGeom>
          <a:solidFill>
            <a:srgbClr val="ECF1EC"/>
          </a:solidFill>
          <a:ln/>
        </p:spPr>
      </p:sp>
      <p:sp>
        <p:nvSpPr>
          <p:cNvPr id="20" name="Shape 15"/>
          <p:cNvSpPr/>
          <p:nvPr/>
        </p:nvSpPr>
        <p:spPr>
          <a:xfrm>
            <a:off x="7895935" y="2249424"/>
            <a:ext cx="859536" cy="85953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224" y="2455713"/>
            <a:ext cx="446959" cy="4469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39376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A3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Procedury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457664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znane wcześniej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559503" y="1965960"/>
            <a:ext cx="1992112" cy="2286000"/>
          </a:xfrm>
          <a:prstGeom prst="roundRect">
            <a:avLst>
              <a:gd name="adj" fmla="val 4131"/>
            </a:avLst>
          </a:prstGeom>
          <a:solidFill>
            <a:srgbClr val="ECF1EC"/>
          </a:solidFill>
          <a:ln/>
        </p:spPr>
      </p:sp>
      <p:sp>
        <p:nvSpPr>
          <p:cNvPr id="25" name="Shape 19"/>
          <p:cNvSpPr/>
          <p:nvPr/>
        </p:nvSpPr>
        <p:spPr>
          <a:xfrm>
            <a:off x="10125791" y="2249424"/>
            <a:ext cx="859536" cy="85953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080" y="2455713"/>
            <a:ext cx="446959" cy="44695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69231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A3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Pomoc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9687519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udzielona i przyjęta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40080" y="4636008"/>
            <a:ext cx="10911535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234940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508760" y="4690872"/>
            <a:ext cx="9722815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Odporna grupa to nie grupa bez problemów. To grupa, w której problem szybko trafia do kogoś, kto może pomóc.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5 · Odporność społeczna i bezpieczeństwo · ZSZ5 we Wrocławiu · 2026/2027</a:t>
            </a:r>
            <a:endParaRPr lang="en-US" sz="950" dirty="0"/>
          </a:p>
        </p:txBody>
      </p:sp>
      <p:pic>
        <p:nvPicPr>
          <p:cNvPr id="33" name="Image 6" descr="/sessions/compassionate-clever-carson/mnt/outputs/build/logo_tri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DLACZEGO WRACAMY DO FREKWENCJI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Obecność uruchamia cały łańcuch wsparcia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12848"/>
            <a:ext cx="3381146" cy="2377440"/>
          </a:xfrm>
          <a:prstGeom prst="roundRect">
            <a:avLst>
              <a:gd name="adj" fmla="val 3462"/>
            </a:avLst>
          </a:prstGeom>
          <a:solidFill>
            <a:srgbClr val="EEF2EE"/>
          </a:solidFill>
          <a:ln/>
        </p:spPr>
      </p:sp>
      <p:sp>
        <p:nvSpPr>
          <p:cNvPr id="5" name="Shape 3"/>
          <p:cNvSpPr/>
          <p:nvPr/>
        </p:nvSpPr>
        <p:spPr>
          <a:xfrm>
            <a:off x="2001469" y="1883664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2001469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2715768"/>
            <a:ext cx="29788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3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Obecność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3310128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Jesteś w szkole, więc nauczyciel widzi, co się dzieje.</a:t>
            </a:r>
            <a:endParaRPr lang="en-US" sz="1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4378" y="3282696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05274" y="2212848"/>
            <a:ext cx="3381146" cy="2377440"/>
          </a:xfrm>
          <a:prstGeom prst="roundRect">
            <a:avLst>
              <a:gd name="adj" fmla="val 3462"/>
            </a:avLst>
          </a:prstGeom>
          <a:solidFill>
            <a:srgbClr val="EEF2EE"/>
          </a:solidFill>
          <a:ln/>
        </p:spPr>
      </p:sp>
      <p:sp>
        <p:nvSpPr>
          <p:cNvPr id="11" name="Shape 8"/>
          <p:cNvSpPr/>
          <p:nvPr/>
        </p:nvSpPr>
        <p:spPr>
          <a:xfrm>
            <a:off x="5766664" y="1883664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9"/>
          <p:cNvSpPr/>
          <p:nvPr/>
        </p:nvSpPr>
        <p:spPr>
          <a:xfrm>
            <a:off x="5766664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606442" y="2715768"/>
            <a:ext cx="29788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3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43018" y="3310128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z kim rozmawiać: wychowawca, nauczyciel, pedagog.</a:t>
            </a:r>
            <a:endParaRPr lang="en-US" sz="12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573" y="3282696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170469" y="2212848"/>
            <a:ext cx="3381146" cy="2377440"/>
          </a:xfrm>
          <a:prstGeom prst="roundRect">
            <a:avLst>
              <a:gd name="adj" fmla="val 3462"/>
            </a:avLst>
          </a:prstGeom>
          <a:solidFill>
            <a:srgbClr val="EEF2EE"/>
          </a:solidFill>
          <a:ln/>
        </p:spPr>
      </p:sp>
      <p:sp>
        <p:nvSpPr>
          <p:cNvPr id="17" name="Shape 13"/>
          <p:cNvSpPr/>
          <p:nvPr/>
        </p:nvSpPr>
        <p:spPr>
          <a:xfrm>
            <a:off x="9531858" y="1883664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4"/>
          <p:cNvSpPr/>
          <p:nvPr/>
        </p:nvSpPr>
        <p:spPr>
          <a:xfrm>
            <a:off x="9531858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371637" y="2715768"/>
            <a:ext cx="29788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3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Wsparcie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408213" y="3310128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Trudność da się nazwać i rozłożyć na kroki.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40080" y="4956048"/>
            <a:ext cx="10911535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22" name="Text 18"/>
          <p:cNvSpPr/>
          <p:nvPr/>
        </p:nvSpPr>
        <p:spPr>
          <a:xfrm>
            <a:off x="1097280" y="4956048"/>
            <a:ext cx="9997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Wsparcie pomaga utrzymać naukę i praktyki. Nieobecność zabiera pierwszy element tego łańcucha.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5 · Odporność społeczna i bezpieczeństwo · ZSZ5 we Wrocławiu · 2026/2027</a:t>
            </a:r>
            <a:endParaRPr lang="en-US" sz="950" dirty="0"/>
          </a:p>
        </p:txBody>
      </p:sp>
      <p:pic>
        <p:nvPicPr>
          <p:cNvPr id="24" name="Image 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ĆWICZENIE GŁÓWNE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Drabina reakcji: od „radzę sobie sam” do „zgłaszam natychmiast”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14255" y="658368"/>
            <a:ext cx="1737360" cy="566928"/>
          </a:xfrm>
          <a:prstGeom prst="roundRect">
            <a:avLst>
              <a:gd name="adj" fmla="val 80645"/>
            </a:avLst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4567" y="8229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44607" y="65836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10911535" cy="1152144"/>
          </a:xfrm>
          <a:prstGeom prst="roundRect">
            <a:avLst>
              <a:gd name="adj" fmla="val 7143"/>
            </a:avLst>
          </a:prstGeom>
          <a:solidFill>
            <a:srgbClr val="EAEFEA"/>
          </a:solidFill>
          <a:ln/>
        </p:spPr>
      </p:sp>
      <p:sp>
        <p:nvSpPr>
          <p:cNvPr id="8" name="Shape 5"/>
          <p:cNvSpPr/>
          <p:nvPr/>
        </p:nvSpPr>
        <p:spPr>
          <a:xfrm>
            <a:off x="923544" y="1773936"/>
            <a:ext cx="804672" cy="804672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65" y="1967057"/>
            <a:ext cx="418429" cy="4184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65960" y="1728216"/>
            <a:ext cx="92198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A3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Ustawiacie sytuacje na drabinie: od takich, z którymi radzicie sobie sami, do takich, które zgłaszacie dorosłemu natychmiast.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640080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12" name="Shape 8"/>
          <p:cNvSpPr/>
          <p:nvPr/>
        </p:nvSpPr>
        <p:spPr>
          <a:xfrm>
            <a:off x="877824" y="3282696"/>
            <a:ext cx="512064" cy="512064"/>
          </a:xfrm>
          <a:prstGeom prst="ellipse">
            <a:avLst/>
          </a:prstGeom>
          <a:solidFill>
            <a:srgbClr val="D5DFD5"/>
          </a:solidFill>
          <a:ln/>
        </p:spPr>
      </p:sp>
      <p:sp>
        <p:nvSpPr>
          <p:cNvPr id="13" name="Text 9"/>
          <p:cNvSpPr/>
          <p:nvPr/>
        </p:nvSpPr>
        <p:spPr>
          <a:xfrm>
            <a:off x="877824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5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77824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Sytuacje na kartkach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877824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Rozdaję krótkie opisy sytuacji ze szkoły i z sieci, wszystkie wymyślone.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356506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17" name="Shape 13"/>
          <p:cNvSpPr/>
          <p:nvPr/>
        </p:nvSpPr>
        <p:spPr>
          <a:xfrm>
            <a:off x="4594250" y="3282696"/>
            <a:ext cx="512064" cy="512064"/>
          </a:xfrm>
          <a:prstGeom prst="ellipse">
            <a:avLst/>
          </a:prstGeom>
          <a:solidFill>
            <a:srgbClr val="D5DFD5"/>
          </a:solidFill>
          <a:ln/>
        </p:spPr>
      </p:sp>
      <p:sp>
        <p:nvSpPr>
          <p:cNvPr id="18" name="Text 14"/>
          <p:cNvSpPr/>
          <p:nvPr/>
        </p:nvSpPr>
        <p:spPr>
          <a:xfrm>
            <a:off x="4594250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5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594250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Ustawianie drabiny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594250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Grupy układają kartki od dołu do góry i uzasadniają dwa skrajne przypadki.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072933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22" name="Shape 18"/>
          <p:cNvSpPr/>
          <p:nvPr/>
        </p:nvSpPr>
        <p:spPr>
          <a:xfrm>
            <a:off x="8310677" y="3282696"/>
            <a:ext cx="512064" cy="512064"/>
          </a:xfrm>
          <a:prstGeom prst="ellipse">
            <a:avLst/>
          </a:prstGeom>
          <a:solidFill>
            <a:srgbClr val="D5DFD5"/>
          </a:solidFill>
          <a:ln/>
        </p:spPr>
      </p:sp>
      <p:sp>
        <p:nvSpPr>
          <p:cNvPr id="23" name="Text 19"/>
          <p:cNvSpPr/>
          <p:nvPr/>
        </p:nvSpPr>
        <p:spPr>
          <a:xfrm>
            <a:off x="8310677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5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8310677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Wspólne ustalenie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8310677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Które sytuacje zawsze idą na górę drabiny, bez dyskusji.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0080" y="5468112"/>
            <a:ext cx="10911535" cy="676656"/>
          </a:xfrm>
          <a:prstGeom prst="roundRect">
            <a:avLst>
              <a:gd name="adj" fmla="val 9459"/>
            </a:avLst>
          </a:prstGeom>
          <a:solidFill>
            <a:srgbClr val="FBF2F2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66928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17320" y="5468112"/>
            <a:ext cx="98599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90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sytuacje są wymyślone. Nie omawiamy zdarzeń z naszej szkoły ani osób, które można rozpoznać.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5 · Odporność społeczna i bezpieczeństwo · ZSZ5 we Wrocławiu · 2026/2027</a:t>
            </a:r>
            <a:endParaRPr lang="en-US" sz="950" dirty="0"/>
          </a:p>
        </p:txBody>
      </p:sp>
      <p:pic>
        <p:nvPicPr>
          <p:cNvPr id="3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WYJŚCIE Z LEKCJI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Wychodzisz z tej lekcji z trzema rzeczami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ECF1EC"/>
          </a:solidFill>
          <a:ln/>
        </p:spPr>
      </p:sp>
      <p:sp>
        <p:nvSpPr>
          <p:cNvPr id="5" name="Shape 3"/>
          <p:cNvSpPr/>
          <p:nvPr/>
        </p:nvSpPr>
        <p:spPr>
          <a:xfrm>
            <a:off x="1867357" y="2203704"/>
            <a:ext cx="987552" cy="987552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4370" y="2440716"/>
            <a:ext cx="513527" cy="513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decyzja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konkretnie zrobię w tym tygodniu.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74794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ECF1EC"/>
          </a:solidFill>
          <a:ln/>
        </p:spPr>
      </p:sp>
      <p:sp>
        <p:nvSpPr>
          <p:cNvPr id="10" name="Shape 7"/>
          <p:cNvSpPr/>
          <p:nvPr/>
        </p:nvSpPr>
        <p:spPr>
          <a:xfrm>
            <a:off x="5602072" y="2203704"/>
            <a:ext cx="987552" cy="987552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084" y="2440716"/>
            <a:ext cx="513527" cy="513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4250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prośba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49114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 i kogo poproszę o pomoc.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09509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ECF1EC"/>
          </a:solidFill>
          <a:ln/>
        </p:spPr>
      </p:sp>
      <p:sp>
        <p:nvSpPr>
          <p:cNvPr id="15" name="Shape 11"/>
          <p:cNvSpPr/>
          <p:nvPr/>
        </p:nvSpPr>
        <p:spPr>
          <a:xfrm>
            <a:off x="9336786" y="2203704"/>
            <a:ext cx="987552" cy="987552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98" y="2440716"/>
            <a:ext cx="513527" cy="513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8965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 pytanie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83829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Czego jeszcze nie rozumiem i muszę dopytać.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5166360"/>
            <a:ext cx="10911535" cy="978408"/>
          </a:xfrm>
          <a:prstGeom prst="roundRect">
            <a:avLst>
              <a:gd name="adj" fmla="val 7477"/>
            </a:avLst>
          </a:prstGeom>
          <a:solidFill>
            <a:srgbClr val="F5F7F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48182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5221224"/>
            <a:ext cx="9631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Zgłoszenie zagrożenia nie jest donosem. Jest działaniem ochronnym — także wobec siebie.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5 · Odporność społeczna i bezpieczeństwo · ZSZ5 we Wrocławiu · 2026/2027</a:t>
            </a:r>
            <a:endParaRPr lang="en-US" sz="950" dirty="0"/>
          </a:p>
        </p:txBody>
      </p:sp>
      <p:pic>
        <p:nvPicPr>
          <p:cNvPr id="23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Zespół Szkół Zawodowych nr 5 we Wrocławiu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Odporność społeczna i bezpieczeństwo</dc:title>
  <dc:subject>Lekcja wychowawcza 2026/2027</dc:subject>
  <dc:creator>ZSZ5 we Wrocławiu</dc:creator>
  <cp:lastModifiedBy>ZSZ5 we Wrocławiu</cp:lastModifiedBy>
  <cp:revision>1</cp:revision>
  <dcterms:created xsi:type="dcterms:W3CDTF">2026-08-10T20:23:32Z</dcterms:created>
  <dcterms:modified xsi:type="dcterms:W3CDTF">2026-08-10T20:23:32Z</dcterms:modified>
</cp:coreProperties>
</file>