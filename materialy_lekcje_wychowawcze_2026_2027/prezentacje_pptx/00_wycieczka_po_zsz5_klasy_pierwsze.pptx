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tylko klasy pierwsze Technikum nr 5 i BS I stopnia nr 5. Na slajdach i w ćwiczeniu nie pojawiają się dane osobowe ani przykłady pozwalające rozpoznać konkretnego ucznia. Po slajdach przejdź do ćwiczenia 'Mapa decyzji'.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oceniaj odpowiedzi. Zbierz 3–4 propozycje i zapisz je na tablicy – wrócisz do nich przy slajdzie z kanałami informacji.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Podkreśl słowo 'zanim'. Większość szkolnych problemów rośnie nie dlatego, że są trudne, ale dlatego, że nikt o nich nie wie.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Jeśli zostanie czas na końcu lekcji, przejdź z klasą trasę: sekretariat – pedagog – biblioteka. Krótki spacer działa lepiej niż slajd.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Najczęstszy błąd pierwszoklasisty: traktowanie Facebooka jako źródła decyzji. Facebook pokazuje życie szkoły, ale wiążące są strona i dziennik.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Uwaga na drugą stronę tej zasady: nikt nie ma być karany za pytanie. Kolejność ma uczyć samodzielności, a nie zniechęcać do kontaktu.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Ostatni wiersz przeczytaj spokojnie i bez dramatyzowania. Powiedz wprost: do pedagoga można przyjść samemu i nie trzeba mieć 'wystarczająco dużego' problemu.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Ćwiczenie główne: Mapa decyzji. Nauczyciel czyta sytuacje, uczniowie wskazują kanał: budynek, EduPage, Facebook, VULCAN, wychowawca. Przykłady: brak dostępu do dziennika, choroba, praktyki, zmiana planu, potrzeba rozmowy z pedagogiem. Na slajdach i w ćwiczeniu nie pojawiają się dane osobowe ani przykłady pozwalające rozpoznać konkretnego ucznia.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Poproś, żeby każdy zapisał trzy punkty na kartce albo w telefonie. Zapowiedz, że wrócicie do tego na kolejnej godzinie wychowawczej.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EDF6F7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D7EBED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DCEDEF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36092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Nawigacja po ZSZ5: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szukać informacji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 kogo iść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0080" y="40721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uczymy się poruszać po szkole i po jej kanałach informacji. Cel jest prosty: wiedzieć, gdzie i do kogo iść, zanim pojawi się problem.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E6F2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4956048" cy="475488"/>
          </a:xfrm>
          <a:prstGeom prst="roundRect">
            <a:avLst>
              <a:gd name="adj" fmla="val 96154"/>
            </a:avLst>
          </a:prstGeom>
          <a:solidFill>
            <a:srgbClr val="E6F2F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 pierwsze: Technikum nr 5 i BS I stopnia nr 5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E6F2F4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8:05. Plan lekcji się zmienił, nie wiesz, w której sali masz zajęcia, a rodzic pyta, czy szkoła coś wysłała. Skąd bierzesz odpowiedź?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Pomyśl 30 sekund, potem powiedz sąsiadowi z ławki jedno miejsce, w którym byś sprawdził.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CO TA LEKCJA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rzeczy, które musisz umieć po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DF6F7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Znam budynek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gdzie jest sekretariat i portiernia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gdzie znajdę pedagoga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gdzie są moje pracownie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DF6F7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Znam kanały informacji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szkoły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Szkoła Mistrzów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dziennik VULCAN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EDF6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Wiem, do kogo iść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jedną osobę pierwszego kontaktu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wiem, co zrobić w sytuacji pilnej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zostaję z problemem sam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BUDYNEK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Pięć miejsc, które warto znać od pierwszego tygodnia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EDF6F7"/>
          </a:solidFill>
          <a:ln/>
        </p:spPr>
      </p:sp>
      <p:sp>
        <p:nvSpPr>
          <p:cNvPr id="5" name="Shape 3"/>
          <p:cNvSpPr/>
          <p:nvPr/>
        </p:nvSpPr>
        <p:spPr>
          <a:xfrm>
            <a:off x="937077" y="1915485"/>
            <a:ext cx="539862" cy="53986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644" y="2045052"/>
            <a:ext cx="280728" cy="2807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15485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Wejście i portiernia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15485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punkt kontaktu przy spóźnieniu, wyjściu w trakcie dnia i wejściu osoby z zewnątrz.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706624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937077" y="2811597"/>
            <a:ext cx="539862" cy="53986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4" y="2941164"/>
            <a:ext cx="280728" cy="280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2811597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Sekretariat uczniowski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2811597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Legitymacja, zaświadczenia, sprawy formalne. Godziny pracy sprawdzasz na drzwiach.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602736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EDF6F7"/>
          </a:solidFill>
          <a:ln/>
        </p:spPr>
      </p:sp>
      <p:sp>
        <p:nvSpPr>
          <p:cNvPr id="15" name="Shape 11"/>
          <p:cNvSpPr/>
          <p:nvPr/>
        </p:nvSpPr>
        <p:spPr>
          <a:xfrm>
            <a:off x="937077" y="3707709"/>
            <a:ext cx="539862" cy="53986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4" y="3837276"/>
            <a:ext cx="280728" cy="2807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3707709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Pedagog i psycholog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3707709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Trudność w nauce, w domu albo w klasie. Można przyjść samemu, także bez zapowiedzi.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4498848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937077" y="4603821"/>
            <a:ext cx="539862" cy="53986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644" y="4733388"/>
            <a:ext cx="280728" cy="2807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4603821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Biblioteka i tablice informacyjne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4603821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Podręczniki, ciche miejsce do pracy, ogłoszenia, konkursy i komunikaty.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640080" y="5394960"/>
            <a:ext cx="10911535" cy="749808"/>
          </a:xfrm>
          <a:prstGeom prst="roundRect">
            <a:avLst>
              <a:gd name="adj" fmla="val 8537"/>
            </a:avLst>
          </a:prstGeom>
          <a:solidFill>
            <a:srgbClr val="EDF6F7"/>
          </a:solidFill>
          <a:ln/>
        </p:spPr>
      </p:sp>
      <p:sp>
        <p:nvSpPr>
          <p:cNvPr id="25" name="Shape 19"/>
          <p:cNvSpPr/>
          <p:nvPr/>
        </p:nvSpPr>
        <p:spPr>
          <a:xfrm>
            <a:off x="937077" y="5499933"/>
            <a:ext cx="539862" cy="53986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644" y="5629500"/>
            <a:ext cx="280728" cy="2807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55648" y="5499933"/>
            <a:ext cx="3611880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Pracownie zawodowe i sale klasowe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5577840" y="5499933"/>
            <a:ext cx="5699455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Regulamin pracowni i zasady BHP obowiązują od pierwszych zajęć, nie od pierwszej kontroli.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30" name="Image 5" descr="/sessions/compassionate-clever-carson/mnt/outputs/build/logo_t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KANAŁY INFORMACJI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źródła i to, po co naprawdę służą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EDF6F7"/>
          </a:solidFill>
          <a:ln/>
        </p:spPr>
      </p:sp>
      <p:sp>
        <p:nvSpPr>
          <p:cNvPr id="5" name="Shape 3"/>
          <p:cNvSpPr/>
          <p:nvPr/>
        </p:nvSpPr>
        <p:spPr>
          <a:xfrm>
            <a:off x="1446238" y="2057400"/>
            <a:ext cx="950976" cy="95097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472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Strona szkoły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41248" y="3794760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zsz5.edupage.org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32688" y="4160520"/>
            <a:ext cx="20146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i dokumenty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komunikaty oficjalne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zakładki dla uczniów i rodziców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22828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EDF6F7"/>
          </a:solidFill>
          <a:ln/>
        </p:spPr>
      </p:sp>
      <p:sp>
        <p:nvSpPr>
          <p:cNvPr id="11" name="Shape 8"/>
          <p:cNvSpPr/>
          <p:nvPr/>
        </p:nvSpPr>
        <p:spPr>
          <a:xfrm>
            <a:off x="4228986" y="2057400"/>
            <a:ext cx="950976" cy="95097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220" y="2285634"/>
            <a:ext cx="494508" cy="4945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3996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Szkoła Mistrzów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623996" y="3794760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szkolamistrzow.info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15436" y="4160520"/>
            <a:ext cx="20146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zawodowa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dualny charakter kształcenia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informacje o zawodach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05576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EDF6F7"/>
          </a:solidFill>
          <a:ln/>
        </p:spPr>
      </p:sp>
      <p:sp>
        <p:nvSpPr>
          <p:cNvPr id="17" name="Shape 13"/>
          <p:cNvSpPr/>
          <p:nvPr/>
        </p:nvSpPr>
        <p:spPr>
          <a:xfrm>
            <a:off x="7011734" y="2057400"/>
            <a:ext cx="950976" cy="95097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968" y="2285634"/>
            <a:ext cx="494508" cy="4945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6744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szkoły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6406744" y="3794760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bieżące życie szkoły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98184" y="4160520"/>
            <a:ext cx="20146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wydarzenia i sukcesy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zdjęcia i relacje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zastępuje oficjalnych komunikatów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88323" y="1783080"/>
            <a:ext cx="2563292" cy="4270248"/>
          </a:xfrm>
          <a:prstGeom prst="roundRect">
            <a:avLst>
              <a:gd name="adj" fmla="val 3211"/>
            </a:avLst>
          </a:prstGeom>
          <a:solidFill>
            <a:srgbClr val="EDF6F7"/>
          </a:solidFill>
          <a:ln/>
        </p:spPr>
      </p:sp>
      <p:sp>
        <p:nvSpPr>
          <p:cNvPr id="23" name="Shape 18"/>
          <p:cNvSpPr/>
          <p:nvPr/>
        </p:nvSpPr>
        <p:spPr>
          <a:xfrm>
            <a:off x="9794481" y="2057400"/>
            <a:ext cx="950976" cy="95097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716" y="2285634"/>
            <a:ext cx="494508" cy="4945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491" y="3118104"/>
            <a:ext cx="2160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Dziennik VULCAN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9189491" y="3794760"/>
            <a:ext cx="21609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dane szkolne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9280931" y="4160520"/>
            <a:ext cx="201465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oceny i frekwencja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wiadomości i usprawiedliwienia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uczeń i rodzic mają osobny dostęp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29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 TRZECH KROKÓW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Zanim kogokolwiek zapytasz, sprawdź w tej kolejności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5F6"/>
          </a:solidFill>
          <a:ln/>
        </p:spPr>
      </p:sp>
      <p:sp>
        <p:nvSpPr>
          <p:cNvPr id="5" name="Shape 3"/>
          <p:cNvSpPr/>
          <p:nvPr/>
        </p:nvSpPr>
        <p:spPr>
          <a:xfrm>
            <a:off x="2001469" y="188366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001469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i komunikaty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szkoły i tablica informacyjna.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378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05274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5F6"/>
          </a:solidFill>
          <a:ln/>
        </p:spPr>
      </p:sp>
      <p:sp>
        <p:nvSpPr>
          <p:cNvPr id="11" name="Shape 8"/>
          <p:cNvSpPr/>
          <p:nvPr/>
        </p:nvSpPr>
        <p:spPr>
          <a:xfrm>
            <a:off x="5766664" y="188366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9"/>
          <p:cNvSpPr/>
          <p:nvPr/>
        </p:nvSpPr>
        <p:spPr>
          <a:xfrm>
            <a:off x="5766664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606442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Dziennik VULCAN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43018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Oceny, frekwencja, wiadomości od nauczycieli.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573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70469" y="2212848"/>
            <a:ext cx="3381146" cy="2377440"/>
          </a:xfrm>
          <a:prstGeom prst="roundRect">
            <a:avLst>
              <a:gd name="adj" fmla="val 3462"/>
            </a:avLst>
          </a:prstGeom>
          <a:solidFill>
            <a:srgbClr val="EBF5F6"/>
          </a:solidFill>
          <a:ln/>
        </p:spPr>
      </p:sp>
      <p:sp>
        <p:nvSpPr>
          <p:cNvPr id="17" name="Shape 13"/>
          <p:cNvSpPr/>
          <p:nvPr/>
        </p:nvSpPr>
        <p:spPr>
          <a:xfrm>
            <a:off x="9531858" y="1883664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4"/>
          <p:cNvSpPr/>
          <p:nvPr/>
        </p:nvSpPr>
        <p:spPr>
          <a:xfrm>
            <a:off x="9531858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8371637" y="2715768"/>
            <a:ext cx="297881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Wychowawca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408213" y="3310128"/>
            <a:ext cx="29056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nadal nie wiesz – pytasz i nie czekasz.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2" name="Text 18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po sprawdzeniu jest lepsze niż milczenie. Ale sprawdzenie zajmuje 60 sekund.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24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DECYZJI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Konkretna sytuacja i konkretny adres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4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Sytuacja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46520" y="1700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4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idę / co robię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121408"/>
            <a:ext cx="5074920" cy="563880"/>
          </a:xfrm>
          <a:prstGeom prst="roundRect">
            <a:avLst>
              <a:gd name="adj" fmla="val 11351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21408"/>
            <a:ext cx="45720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wiem, gdzie mam iść ani kogo zapytać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2744" y="2284476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2121408"/>
            <a:ext cx="5105095" cy="563880"/>
          </a:xfrm>
          <a:prstGeom prst="roundRect">
            <a:avLst>
              <a:gd name="adj" fmla="val 11351"/>
            </a:avLst>
          </a:prstGeom>
          <a:solidFill>
            <a:srgbClr val="E1F0F2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930" y="2205990"/>
            <a:ext cx="394716" cy="3947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662" y="2300722"/>
            <a:ext cx="205252" cy="2052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96912" y="2121408"/>
            <a:ext cx="409925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1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Wychowawca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2813304"/>
            <a:ext cx="5074920" cy="563880"/>
          </a:xfrm>
          <a:prstGeom prst="roundRect">
            <a:avLst>
              <a:gd name="adj" fmla="val 11351"/>
            </a:avLst>
          </a:prstGeom>
          <a:solidFill>
            <a:srgbClr val="F5F7FA"/>
          </a:solidFill>
          <a:ln/>
        </p:spPr>
      </p:sp>
      <p:sp>
        <p:nvSpPr>
          <p:cNvPr id="14" name="Text 10"/>
          <p:cNvSpPr/>
          <p:nvPr/>
        </p:nvSpPr>
        <p:spPr>
          <a:xfrm>
            <a:off x="896112" y="2813304"/>
            <a:ext cx="45720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mam dostępu do dziennika VULCAN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744" y="2976372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446520" y="2813304"/>
            <a:ext cx="5105095" cy="563880"/>
          </a:xfrm>
          <a:prstGeom prst="roundRect">
            <a:avLst>
              <a:gd name="adj" fmla="val 11351"/>
            </a:avLst>
          </a:prstGeom>
          <a:solidFill>
            <a:srgbClr val="E1F0F2"/>
          </a:solidFill>
          <a:ln/>
        </p:spPr>
      </p:sp>
      <p:sp>
        <p:nvSpPr>
          <p:cNvPr id="17" name="Shape 12"/>
          <p:cNvSpPr/>
          <p:nvPr/>
        </p:nvSpPr>
        <p:spPr>
          <a:xfrm>
            <a:off x="6678930" y="2897886"/>
            <a:ext cx="394716" cy="3947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662" y="2992618"/>
            <a:ext cx="205252" cy="2052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96912" y="2813304"/>
            <a:ext cx="409925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1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Wychowawca i procedura szkoły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0080" y="3505200"/>
            <a:ext cx="5074920" cy="563880"/>
          </a:xfrm>
          <a:prstGeom prst="roundRect">
            <a:avLst>
              <a:gd name="adj" fmla="val 11351"/>
            </a:avLst>
          </a:prstGeom>
          <a:solidFill>
            <a:srgbClr val="F5F7FA"/>
          </a:solidFill>
          <a:ln/>
        </p:spPr>
      </p:sp>
      <p:sp>
        <p:nvSpPr>
          <p:cNvPr id="21" name="Text 15"/>
          <p:cNvSpPr/>
          <p:nvPr/>
        </p:nvSpPr>
        <p:spPr>
          <a:xfrm>
            <a:off x="896112" y="3505200"/>
            <a:ext cx="45720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Jestem chory, nie będę w szkole</a:t>
            </a:r>
            <a:endParaRPr lang="en-US" sz="14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744" y="3668268"/>
            <a:ext cx="237744" cy="237744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446520" y="3505200"/>
            <a:ext cx="5105095" cy="563880"/>
          </a:xfrm>
          <a:prstGeom prst="roundRect">
            <a:avLst>
              <a:gd name="adj" fmla="val 11351"/>
            </a:avLst>
          </a:prstGeom>
          <a:solidFill>
            <a:srgbClr val="E1F0F2"/>
          </a:solidFill>
          <a:ln/>
        </p:spPr>
      </p:sp>
      <p:sp>
        <p:nvSpPr>
          <p:cNvPr id="24" name="Shape 17"/>
          <p:cNvSpPr/>
          <p:nvPr/>
        </p:nvSpPr>
        <p:spPr>
          <a:xfrm>
            <a:off x="6678930" y="3589782"/>
            <a:ext cx="394716" cy="3947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662" y="3684514"/>
            <a:ext cx="205252" cy="20525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96912" y="3505200"/>
            <a:ext cx="409925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1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Rodzic lub opiekun i usprawiedliwienie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40080" y="4197096"/>
            <a:ext cx="5074920" cy="563880"/>
          </a:xfrm>
          <a:prstGeom prst="roundRect">
            <a:avLst>
              <a:gd name="adj" fmla="val 11351"/>
            </a:avLst>
          </a:prstGeom>
          <a:solidFill>
            <a:srgbClr val="F5F7FA"/>
          </a:solidFill>
          <a:ln/>
        </p:spPr>
      </p:sp>
      <p:sp>
        <p:nvSpPr>
          <p:cNvPr id="28" name="Text 20"/>
          <p:cNvSpPr/>
          <p:nvPr/>
        </p:nvSpPr>
        <p:spPr>
          <a:xfrm>
            <a:off x="896112" y="4197096"/>
            <a:ext cx="45720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Zmienił się plan lekcji albo termin</a:t>
            </a:r>
            <a:endParaRPr lang="en-US" sz="14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2744" y="4360164"/>
            <a:ext cx="237744" cy="237744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446520" y="4197096"/>
            <a:ext cx="5105095" cy="563880"/>
          </a:xfrm>
          <a:prstGeom prst="roundRect">
            <a:avLst>
              <a:gd name="adj" fmla="val 11351"/>
            </a:avLst>
          </a:prstGeom>
          <a:solidFill>
            <a:srgbClr val="E1F0F2"/>
          </a:solidFill>
          <a:ln/>
        </p:spPr>
      </p:sp>
      <p:sp>
        <p:nvSpPr>
          <p:cNvPr id="31" name="Shape 22"/>
          <p:cNvSpPr/>
          <p:nvPr/>
        </p:nvSpPr>
        <p:spPr>
          <a:xfrm>
            <a:off x="6678930" y="4281678"/>
            <a:ext cx="394716" cy="3947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3662" y="4376410"/>
            <a:ext cx="205252" cy="20525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296912" y="4197096"/>
            <a:ext cx="409925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1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Strona szkoły i komunikaty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640080" y="4888992"/>
            <a:ext cx="5074920" cy="563880"/>
          </a:xfrm>
          <a:prstGeom prst="roundRect">
            <a:avLst>
              <a:gd name="adj" fmla="val 11351"/>
            </a:avLst>
          </a:prstGeom>
          <a:solidFill>
            <a:srgbClr val="F5F7FA"/>
          </a:solidFill>
          <a:ln/>
        </p:spPr>
      </p:sp>
      <p:sp>
        <p:nvSpPr>
          <p:cNvPr id="35" name="Text 25"/>
          <p:cNvSpPr/>
          <p:nvPr/>
        </p:nvSpPr>
        <p:spPr>
          <a:xfrm>
            <a:off x="896112" y="4888992"/>
            <a:ext cx="45720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pytanie o praktyki i zawód</a:t>
            </a:r>
            <a:endParaRPr lang="en-US" sz="14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2744" y="5052060"/>
            <a:ext cx="237744" cy="237744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6446520" y="4888992"/>
            <a:ext cx="5105095" cy="563880"/>
          </a:xfrm>
          <a:prstGeom prst="roundRect">
            <a:avLst>
              <a:gd name="adj" fmla="val 11351"/>
            </a:avLst>
          </a:prstGeom>
          <a:solidFill>
            <a:srgbClr val="E1F0F2"/>
          </a:solidFill>
          <a:ln/>
        </p:spPr>
      </p:sp>
      <p:sp>
        <p:nvSpPr>
          <p:cNvPr id="38" name="Shape 27"/>
          <p:cNvSpPr/>
          <p:nvPr/>
        </p:nvSpPr>
        <p:spPr>
          <a:xfrm>
            <a:off x="6678930" y="4973574"/>
            <a:ext cx="394716" cy="3947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3662" y="5068306"/>
            <a:ext cx="205252" cy="20525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296912" y="4888992"/>
            <a:ext cx="409925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1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Kierownik szkolenia praktycznego, Szkoła Mistrzów</a:t>
            </a:r>
            <a:endParaRPr lang="en-US" sz="1400" dirty="0"/>
          </a:p>
        </p:txBody>
      </p:sp>
      <p:sp>
        <p:nvSpPr>
          <p:cNvPr id="41" name="Shape 29"/>
          <p:cNvSpPr/>
          <p:nvPr/>
        </p:nvSpPr>
        <p:spPr>
          <a:xfrm>
            <a:off x="640080" y="5580888"/>
            <a:ext cx="5074920" cy="563880"/>
          </a:xfrm>
          <a:prstGeom prst="roundRect">
            <a:avLst>
              <a:gd name="adj" fmla="val 11351"/>
            </a:avLst>
          </a:prstGeom>
          <a:solidFill>
            <a:srgbClr val="F5F7FA"/>
          </a:solidFill>
          <a:ln/>
        </p:spPr>
      </p:sp>
      <p:sp>
        <p:nvSpPr>
          <p:cNvPr id="42" name="Text 30"/>
          <p:cNvSpPr/>
          <p:nvPr/>
        </p:nvSpPr>
        <p:spPr>
          <a:xfrm>
            <a:off x="896112" y="5580888"/>
            <a:ext cx="45720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kryzys, dzieje mi się krzywda</a:t>
            </a:r>
            <a:endParaRPr lang="en-US" sz="14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744" y="5743956"/>
            <a:ext cx="237744" cy="237744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6446520" y="5580888"/>
            <a:ext cx="5105095" cy="563880"/>
          </a:xfrm>
          <a:prstGeom prst="roundRect">
            <a:avLst>
              <a:gd name="adj" fmla="val 11351"/>
            </a:avLst>
          </a:prstGeom>
          <a:solidFill>
            <a:srgbClr val="E1F0F2"/>
          </a:solidFill>
          <a:ln/>
        </p:spPr>
      </p:sp>
      <p:sp>
        <p:nvSpPr>
          <p:cNvPr id="45" name="Shape 32"/>
          <p:cNvSpPr/>
          <p:nvPr/>
        </p:nvSpPr>
        <p:spPr>
          <a:xfrm>
            <a:off x="6678930" y="5665470"/>
            <a:ext cx="394716" cy="39471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73662" y="5760202"/>
            <a:ext cx="205252" cy="20525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7296912" y="5580888"/>
            <a:ext cx="4099255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14D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 lub psycholog, od razu</a:t>
            </a:r>
            <a:endParaRPr lang="en-US" sz="1400" dirty="0"/>
          </a:p>
        </p:txBody>
      </p:sp>
      <p:sp>
        <p:nvSpPr>
          <p:cNvPr id="48" name="Text 3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49" name="Image 1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decyzji: który kanał, a nie który kolega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E6F2F4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Czytam sytuację, wy w parach wskazujecie kanał: budynek, strona szkoły, Facebook, VULCAN albo wychowawca.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CCE6E9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Sytuacja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Czytam na głos jedną z sytuacji: brak dostępu do dziennika, choroba, praktyki, zmiana planu, potrzeba rozmowy z pedagogiem.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CCE6E9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decyduje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sekund w parze: jeden kanał i jedno zdanie uzasadnienia.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CCE6E9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6D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Sprawdzamy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Porównujemy odpowiedzi. Zapisujemy poprawny kanał obok sytuacji.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przykładach nie używamy imion, nazwisk ani sytuacji, po których można rozpoznać konkretną osobę.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8F4F5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konkretnie zrobię w tym tygodniu.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8F4F5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 i kogo poproszę o pomoc.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E8F4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4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jeszcze nie rozumiem i muszę dopytać.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wiesz, od czego zacząć? Powiedz o tym wychowawcy. To zawsze pierwszy krok i zawsze jest w porządku.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0 · Nawigacja po ZSZ5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Nawigacja po ZSZ5</dc:title>
  <dc:subject>Lekcja wychowawcza 2026/2027</dc:subject>
  <dc:creator>ZSZ5 we Wrocławiu</dc:creator>
  <cp:lastModifiedBy>ZSZ5 we Wrocławiu</cp:lastModifiedBy>
  <cp:revision>1</cp:revision>
  <dcterms:created xsi:type="dcterms:W3CDTF">2026-08-10T20:23:31Z</dcterms:created>
  <dcterms:modified xsi:type="dcterms:W3CDTF">2026-08-10T20:23:31Z</dcterms:modified>
</cp:coreProperties>
</file>