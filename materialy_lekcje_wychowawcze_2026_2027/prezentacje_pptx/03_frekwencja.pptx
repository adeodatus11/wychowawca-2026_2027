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 całej lekcji: 30 minut. Grupa: wszystkie klasy. Na slajdach i w ćwiczeniu nie pojawiają się dane osobowe ani przykłady pozwalające rozpoznać konkretnego ucznia. Po slajdach przejdź do ćwiczenia 'Plan 7 dni'. Konkretne progi i terminy sprawdzajcie w aktualnym statucie ZSZ5.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Policz to na tablicy razem z klasą. Efekt 'to się samo uzbierało' działa mocniej niż morał.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slajd ustawia ton całej lekcji. Jeśli uczniowie usłyszą oskarżenie, przestaną słuchać przy trzecim slajdzie.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Punkt o pracodawcy jest w technikum i szkole branżowej najbardziej przekonujący. Zatrzymaj się na nim dłużej.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rozszerzaj tych liczb o własne interpretacje. Jeśli pojawi się pytanie o szczegóły – otwórzcie statut.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Zapytaj: który z tych kroków wypada u Was najczęściej? Prawie zawsze jest to trzeci – kontakt z nauczycielem.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Podkreśl słowo 'jeden'. Plany typu 'nadrobię wszystko' upadają w pierwszym tygodniu i zniechęcają na kolejny miesiąc.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7 dni: uczniowie wybierają jedną barierę frekwencji i zapisują realistyczny krok: transport, sen, komunikacja z rodzicem, kontakt z wychowawcą, nadrobienie jednego przedmiotu. Karty mogą zostać u ucznia. Na slajdach i w ćwiczeniu nie pojawiają się dane osobowe ani przykłady pozwalające rozpoznać konkretnego ucznia.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Zapowiedz krótki powrót do tematu za tydzień: dwie minuty, bez wywoływania nazwisk.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325880"/>
            <a:ext cx="3749040" cy="3749040"/>
          </a:xfrm>
          <a:prstGeom prst="ellipse">
            <a:avLst/>
          </a:prstGeom>
          <a:solidFill>
            <a:srgbClr val="FAF3F2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828800"/>
            <a:ext cx="2743200" cy="2743200"/>
          </a:xfrm>
          <a:prstGeom prst="ellipse">
            <a:avLst/>
          </a:prstGeom>
          <a:solidFill>
            <a:srgbClr val="F4E3E1"/>
          </a:solidFill>
          <a:ln/>
        </p:spPr>
      </p:sp>
      <p:sp>
        <p:nvSpPr>
          <p:cNvPr id="4" name="Shape 2"/>
          <p:cNvSpPr/>
          <p:nvPr/>
        </p:nvSpPr>
        <p:spPr>
          <a:xfrm>
            <a:off x="9171432" y="2267712"/>
            <a:ext cx="1865376" cy="186537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0" y="272034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868680"/>
            <a:ext cx="841248" cy="841248"/>
          </a:xfrm>
          <a:prstGeom prst="ellipse">
            <a:avLst/>
          </a:prstGeom>
          <a:solidFill>
            <a:srgbClr val="F5E7E5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C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LEKCJA WYCHOWAWCZA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ZSZ5 we Wrocławiu · rok szkolny 2026/2027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736092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Frekwencja: obecność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jako warunek zaliczenia,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bezpieczeństwa i zawodu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0080" y="4072128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Frekwencja nie jest oceną Twojego charakteru. To informacja o ryzyku — a z informacją można coś zrobić, dopóki jest wcześnie.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192378" cy="475488"/>
          </a:xfrm>
          <a:prstGeom prst="roundRect">
            <a:avLst>
              <a:gd name="adj" fmla="val 96154"/>
            </a:avLst>
          </a:prstGeom>
          <a:solidFill>
            <a:srgbClr val="F8EE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029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5074920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033626" y="5074920"/>
            <a:ext cx="1819656" cy="475488"/>
          </a:xfrm>
          <a:prstGeom prst="roundRect">
            <a:avLst>
              <a:gd name="adj" fmla="val 96154"/>
            </a:avLst>
          </a:prstGeom>
          <a:solidFill>
            <a:srgbClr val="F8EE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74" y="520293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72538" y="5074920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klasy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3 · Frekwencja · ZSZ5 we Wrocławiu · 2026/2027</a:t>
            </a:r>
            <a:endParaRPr lang="en-US" sz="950" dirty="0"/>
          </a:p>
        </p:txBody>
      </p:sp>
      <p:pic>
        <p:nvPicPr>
          <p:cNvPr id="19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WEJŚCIE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Zacznijmy od sytuacji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11535" cy="3611880"/>
          </a:xfrm>
          <a:prstGeom prst="roundRect">
            <a:avLst>
              <a:gd name="adj" fmla="val 2532"/>
            </a:avLst>
          </a:prstGeom>
          <a:solidFill>
            <a:srgbClr val="F8EEEC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884932"/>
            <a:ext cx="1170432" cy="117043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6" y="3165836"/>
            <a:ext cx="608625" cy="60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938528"/>
            <a:ext cx="830549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6B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Opuszczasz „tylko” jedną lekcję w tygodniu. Ile to godzin do końca roku szkolnego?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5229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5440680"/>
            <a:ext cx="10454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Około 35 godzin, czyli więcej niż cały tydzień nauki. Nikt nie planuje takiej straty — ona się po prostu zbiera.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3 · Frekwencja · ZSZ5 we Wrocławiu · 2026/2027</a:t>
            </a:r>
            <a:endParaRPr lang="en-US" sz="950" dirty="0"/>
          </a:p>
        </p:txBody>
      </p:sp>
      <p:pic>
        <p:nvPicPr>
          <p:cNvPr id="11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ZMIANA PERSPEKTYWY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Frekwencja to sygnał, nie wyrok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874520"/>
          </a:xfrm>
          <a:prstGeom prst="roundRect">
            <a:avLst>
              <a:gd name="adj" fmla="val 4878"/>
            </a:avLst>
          </a:prstGeom>
          <a:solidFill>
            <a:srgbClr val="F8EEEC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189988"/>
            <a:ext cx="877824" cy="877824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086" y="2400666"/>
            <a:ext cx="456468" cy="4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920240"/>
            <a:ext cx="867125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b="1" dirty="0">
                <a:solidFill>
                  <a:srgbClr val="6E3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Niska frekwencja nie mówi „jesteś złym uczniem”. Mówi: „coś tu nie działa i trzeba się tym zająć teraz, a nie w czerwcu”.</a:t>
            </a:r>
            <a:endParaRPr lang="en-US" sz="2050" dirty="0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2535860" cy="2167128"/>
          </a:xfrm>
          <a:prstGeom prst="roundRect">
            <a:avLst>
              <a:gd name="adj" fmla="val 3376"/>
            </a:avLst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886968" y="4224528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378147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4946904"/>
            <a:ext cx="20237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ranking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431972" y="3977640"/>
            <a:ext cx="2535860" cy="2167128"/>
          </a:xfrm>
          <a:prstGeom prst="roundRect">
            <a:avLst>
              <a:gd name="adj" fmla="val 3376"/>
            </a:avLst>
          </a:prstGeom>
          <a:solidFill>
            <a:srgbClr val="F5F7FA"/>
          </a:solidFill>
          <a:ln/>
        </p:spPr>
      </p:sp>
      <p:sp>
        <p:nvSpPr>
          <p:cNvPr id="13" name="Shape 9"/>
          <p:cNvSpPr/>
          <p:nvPr/>
        </p:nvSpPr>
        <p:spPr>
          <a:xfrm>
            <a:off x="3678860" y="4224528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479" y="4378147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88004" y="4946904"/>
            <a:ext cx="20237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etykieta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23864" y="3977640"/>
            <a:ext cx="2535860" cy="2167128"/>
          </a:xfrm>
          <a:prstGeom prst="roundRect">
            <a:avLst>
              <a:gd name="adj" fmla="val 3376"/>
            </a:avLst>
          </a:prstGeom>
          <a:solidFill>
            <a:srgbClr val="F5F7FA"/>
          </a:solidFill>
          <a:ln/>
        </p:spPr>
      </p:sp>
      <p:sp>
        <p:nvSpPr>
          <p:cNvPr id="17" name="Shape 12"/>
          <p:cNvSpPr/>
          <p:nvPr/>
        </p:nvSpPr>
        <p:spPr>
          <a:xfrm>
            <a:off x="6470752" y="4224528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371" y="4378147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79896" y="4946904"/>
            <a:ext cx="20237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Informacja o ryzyku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015755" y="3977640"/>
            <a:ext cx="2535860" cy="2167128"/>
          </a:xfrm>
          <a:prstGeom prst="roundRect">
            <a:avLst>
              <a:gd name="adj" fmla="val 3376"/>
            </a:avLst>
          </a:prstGeom>
          <a:solidFill>
            <a:srgbClr val="F5F7FA"/>
          </a:solidFill>
          <a:ln/>
        </p:spPr>
      </p:sp>
      <p:sp>
        <p:nvSpPr>
          <p:cNvPr id="21" name="Shape 15"/>
          <p:cNvSpPr/>
          <p:nvPr/>
        </p:nvSpPr>
        <p:spPr>
          <a:xfrm>
            <a:off x="9262643" y="4224528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6263" y="4378147"/>
            <a:ext cx="332842" cy="33284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271787" y="4946904"/>
            <a:ext cx="20237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 startu do działania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3 · Frekwencja · ZSZ5 we Wrocławiu · 2026/2027</a:t>
            </a:r>
            <a:endParaRPr lang="en-US" sz="950" dirty="0"/>
          </a:p>
        </p:txBody>
      </p:sp>
      <p:pic>
        <p:nvPicPr>
          <p:cNvPr id="25" name="Image 5" descr="/sessions/compassionate-clever-carson/mnt/outputs/build/logo_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KONSEKWENCJE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Pięć obszarów, na które obecność wpływa naprawdę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AF3F2"/>
          </a:solidFill>
          <a:ln/>
        </p:spPr>
      </p:sp>
      <p:sp>
        <p:nvSpPr>
          <p:cNvPr id="5" name="Shape 3"/>
          <p:cNvSpPr/>
          <p:nvPr/>
        </p:nvSpPr>
        <p:spPr>
          <a:xfrm>
            <a:off x="937077" y="1915485"/>
            <a:ext cx="539862" cy="53986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4" y="2045052"/>
            <a:ext cx="280728" cy="280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915485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Klasyfikacja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77840" y="1915485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Nauczyciel musi mieć podstawy do wystawienia oceny. Brak obecności to brak podstaw.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706624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937077" y="2811597"/>
            <a:ext cx="539862" cy="53986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4" y="2941164"/>
            <a:ext cx="280728" cy="2807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2811597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Promocja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77840" y="2811597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Nieklasyfikowanie z jednego przedmiotu potrafi zablokować decyzję o całym roku.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602736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AF3F2"/>
          </a:solidFill>
          <a:ln/>
        </p:spPr>
      </p:sp>
      <p:sp>
        <p:nvSpPr>
          <p:cNvPr id="15" name="Shape 11"/>
          <p:cNvSpPr/>
          <p:nvPr/>
        </p:nvSpPr>
        <p:spPr>
          <a:xfrm>
            <a:off x="937077" y="3707709"/>
            <a:ext cx="539862" cy="53986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4" y="3837276"/>
            <a:ext cx="280728" cy="2807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55648" y="3707709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Praktyki i pracodawca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577840" y="3707709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pracodawcy obecność jest warunkiem, nie deklaracją. Buduje albo psuje Twoją opinię.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4498848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937077" y="4603821"/>
            <a:ext cx="539862" cy="53986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4" y="4733388"/>
            <a:ext cx="280728" cy="2807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4603821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Bezpieczeństwo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77840" y="4603821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Szkoła odpowiada za ucznia w czasie zajęć. Musi wiedzieć, gdzie jesteś.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40080" y="5394960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AF3F2"/>
          </a:solidFill>
          <a:ln/>
        </p:spPr>
      </p:sp>
      <p:sp>
        <p:nvSpPr>
          <p:cNvPr id="25" name="Shape 19"/>
          <p:cNvSpPr/>
          <p:nvPr/>
        </p:nvSpPr>
        <p:spPr>
          <a:xfrm>
            <a:off x="937077" y="5499933"/>
            <a:ext cx="539862" cy="53986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644" y="5629500"/>
            <a:ext cx="280728" cy="2807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55648" y="5499933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 z rodzicem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577840" y="5499933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Nieobecność uruchamia kontakt z domem. Lepiej, gdy dzieje się to wcześnie i spokojnie.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3 · Frekwencja · ZSZ5 we Wrocławiu · 2026/2027</a:t>
            </a:r>
            <a:endParaRPr lang="en-US" sz="950" dirty="0"/>
          </a:p>
        </p:txBody>
      </p:sp>
      <p:pic>
        <p:nvPicPr>
          <p:cNvPr id="30" name="Image 5" descr="/sessions/compassionate-clever-carson/mnt/outputs/build/logo_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Liczby, które trzeba znać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4298" cy="2788920"/>
          </a:xfrm>
          <a:prstGeom prst="roundRect">
            <a:avLst>
              <a:gd name="adj" fmla="val 3279"/>
            </a:avLst>
          </a:prstGeom>
          <a:solidFill>
            <a:srgbClr val="F8EEE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12848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96112" y="3611880"/>
            <a:ext cx="2942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7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nieusprawiedliwionej nieobecności w miesiącu — to już próg, przy którym szkoła reaguje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8698" y="1920240"/>
            <a:ext cx="3454298" cy="2788920"/>
          </a:xfrm>
          <a:prstGeom prst="roundRect">
            <a:avLst>
              <a:gd name="adj" fmla="val 3279"/>
            </a:avLst>
          </a:prstGeom>
          <a:solidFill>
            <a:srgbClr val="F8EEEC"/>
          </a:solidFill>
          <a:ln/>
        </p:spPr>
      </p:sp>
      <p:sp>
        <p:nvSpPr>
          <p:cNvPr id="8" name="Text 6"/>
          <p:cNvSpPr/>
          <p:nvPr/>
        </p:nvSpPr>
        <p:spPr>
          <a:xfrm>
            <a:off x="4551578" y="2212848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50%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624730" y="3611880"/>
            <a:ext cx="2942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7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nieobecności na zajęciach z przedmiotu może oznaczać brak klasyfikacji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97317" y="1920240"/>
            <a:ext cx="3454298" cy="2788920"/>
          </a:xfrm>
          <a:prstGeom prst="roundRect">
            <a:avLst>
              <a:gd name="adj" fmla="val 3279"/>
            </a:avLst>
          </a:prstGeom>
          <a:solidFill>
            <a:srgbClr val="F8EEEC"/>
          </a:solidFill>
          <a:ln/>
        </p:spPr>
      </p:sp>
      <p:sp>
        <p:nvSpPr>
          <p:cNvPr id="11" name="Text 9"/>
          <p:cNvSpPr/>
          <p:nvPr/>
        </p:nvSpPr>
        <p:spPr>
          <a:xfrm>
            <a:off x="8280197" y="2212848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353349" y="3611880"/>
            <a:ext cx="2942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7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kroki po każdej nieobecności: usprawiedliwienie, zaległości, kontakt z nauczycielem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038344"/>
            <a:ext cx="10911535" cy="1106424"/>
          </a:xfrm>
          <a:prstGeom prst="roundRect">
            <a:avLst>
              <a:gd name="adj" fmla="val 6612"/>
            </a:avLst>
          </a:prstGeom>
          <a:solidFill>
            <a:srgbClr val="F5F7F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436108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5093208"/>
            <a:ext cx="972281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Dokładne progi, terminy i reakcje szkoły są zapisane w statucie ZSZ5. Sprawdzamy je na aktualnym pliku ze strony zsz5.edupage.org.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3 · Frekwencja · ZSZ5 we Wrocławiu · 2026/2027</a:t>
            </a:r>
            <a:endParaRPr lang="en-US" sz="950" dirty="0"/>
          </a:p>
        </p:txBody>
      </p:sp>
      <p:pic>
        <p:nvPicPr>
          <p:cNvPr id="17" name="Image 1" descr="/sessions/compassionate-clever-carson/mnt/outputs/build/logo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robię po nieobecności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9F1F0"/>
          </a:solidFill>
          <a:ln/>
        </p:spPr>
      </p:sp>
      <p:sp>
        <p:nvSpPr>
          <p:cNvPr id="5" name="Shape 3"/>
          <p:cNvSpPr/>
          <p:nvPr/>
        </p:nvSpPr>
        <p:spPr>
          <a:xfrm>
            <a:off x="1530820" y="1883664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530820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6B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Usprawiedliwienie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formie i terminie, które obowiązują w szkole. Termin liczy się tak samo jak dla zadania.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3080" y="3282696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63976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9F1F0"/>
          </a:solidFill>
          <a:ln/>
        </p:spPr>
      </p:sp>
      <p:sp>
        <p:nvSpPr>
          <p:cNvPr id="11" name="Shape 8"/>
          <p:cNvSpPr/>
          <p:nvPr/>
        </p:nvSpPr>
        <p:spPr>
          <a:xfrm>
            <a:off x="4354716" y="1883664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/>
          <p:nvPr/>
        </p:nvSpPr>
        <p:spPr>
          <a:xfrm>
            <a:off x="4354716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665144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6B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Zaległości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01720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Sprawdzam w dzienniku i u kolegów, co było na lekcji.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976" y="328269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87872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9F1F0"/>
          </a:solidFill>
          <a:ln/>
        </p:spPr>
      </p:sp>
      <p:sp>
        <p:nvSpPr>
          <p:cNvPr id="17" name="Shape 13"/>
          <p:cNvSpPr/>
          <p:nvPr/>
        </p:nvSpPr>
        <p:spPr>
          <a:xfrm>
            <a:off x="7178612" y="1883664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4"/>
          <p:cNvSpPr/>
          <p:nvPr/>
        </p:nvSpPr>
        <p:spPr>
          <a:xfrm>
            <a:off x="7178612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6489040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6B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 z nauczycielem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25616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Pytam o termin zaliczenia, zamiast czekać na zapytanie.</a:t>
            </a:r>
            <a:endParaRPr lang="en-US" sz="12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871" y="3282696"/>
            <a:ext cx="237744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111767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9F1F0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02507" y="1883664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19"/>
          <p:cNvSpPr/>
          <p:nvPr/>
        </p:nvSpPr>
        <p:spPr>
          <a:xfrm>
            <a:off x="10002507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9312935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6B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nadrobienia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349511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Ustalam konkretny dzień i godzinę, nie „jak najszybciej”.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40080" y="4956048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28" name="Text 23"/>
          <p:cNvSpPr/>
          <p:nvPr/>
        </p:nvSpPr>
        <p:spPr>
          <a:xfrm>
            <a:off x="1097280" y="4956048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Cztery kroki, jeden dzień pracy. Odłożone o dwa tygodnie zamieniają się w cztery dni pracy.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3 · Frekwencja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NARZĘDZIE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7 dni: cztery pola, jeden tydzień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63292" cy="4270248"/>
          </a:xfrm>
          <a:prstGeom prst="roundRect">
            <a:avLst>
              <a:gd name="adj" fmla="val 3211"/>
            </a:avLst>
          </a:prstGeom>
          <a:solidFill>
            <a:srgbClr val="FAF3F2"/>
          </a:solidFill>
          <a:ln/>
        </p:spPr>
      </p:sp>
      <p:sp>
        <p:nvSpPr>
          <p:cNvPr id="5" name="Shape 3"/>
          <p:cNvSpPr/>
          <p:nvPr/>
        </p:nvSpPr>
        <p:spPr>
          <a:xfrm>
            <a:off x="1446238" y="2057400"/>
            <a:ext cx="950976" cy="95097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472" y="2285634"/>
            <a:ext cx="494508" cy="494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18104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6B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problem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01465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„wszystko naraz”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wybierasz największą barierę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nazywasz ją jednym zdaniem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2828" y="1783080"/>
            <a:ext cx="2563292" cy="4270248"/>
          </a:xfrm>
          <a:prstGeom prst="roundRect">
            <a:avLst>
              <a:gd name="adj" fmla="val 3211"/>
            </a:avLst>
          </a:prstGeom>
          <a:solidFill>
            <a:srgbClr val="FAF3F2"/>
          </a:solidFill>
          <a:ln/>
        </p:spPr>
      </p:sp>
      <p:sp>
        <p:nvSpPr>
          <p:cNvPr id="10" name="Shape 7"/>
          <p:cNvSpPr/>
          <p:nvPr/>
        </p:nvSpPr>
        <p:spPr>
          <a:xfrm>
            <a:off x="4228986" y="2057400"/>
            <a:ext cx="950976" cy="95097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220" y="2285634"/>
            <a:ext cx="494508" cy="4945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3996" y="3118104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6B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konkretny krok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715436" y="3886200"/>
            <a:ext cx="201465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mierzalny i mały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datą i godziną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możliwy do zrobienia w tym tygodniu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05576" y="1783080"/>
            <a:ext cx="2563292" cy="4270248"/>
          </a:xfrm>
          <a:prstGeom prst="roundRect">
            <a:avLst>
              <a:gd name="adj" fmla="val 3211"/>
            </a:avLst>
          </a:prstGeom>
          <a:solidFill>
            <a:srgbClr val="FAF3F2"/>
          </a:solidFill>
          <a:ln/>
        </p:spPr>
      </p:sp>
      <p:sp>
        <p:nvSpPr>
          <p:cNvPr id="15" name="Shape 11"/>
          <p:cNvSpPr/>
          <p:nvPr/>
        </p:nvSpPr>
        <p:spPr>
          <a:xfrm>
            <a:off x="7011734" y="2057400"/>
            <a:ext cx="950976" cy="95097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968" y="2285634"/>
            <a:ext cx="494508" cy="4945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6744" y="3118104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6B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osoba do kontaktu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98184" y="3886200"/>
            <a:ext cx="201465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wychowawca, nauczyciel, pedagog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rodzic lub opiekun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kolega z klasy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88323" y="1783080"/>
            <a:ext cx="2563292" cy="4270248"/>
          </a:xfrm>
          <a:prstGeom prst="roundRect">
            <a:avLst>
              <a:gd name="adj" fmla="val 3211"/>
            </a:avLst>
          </a:prstGeom>
          <a:solidFill>
            <a:srgbClr val="FAF3F2"/>
          </a:solidFill>
          <a:ln/>
        </p:spPr>
      </p:sp>
      <p:sp>
        <p:nvSpPr>
          <p:cNvPr id="20" name="Shape 15"/>
          <p:cNvSpPr/>
          <p:nvPr/>
        </p:nvSpPr>
        <p:spPr>
          <a:xfrm>
            <a:off x="9794481" y="2057400"/>
            <a:ext cx="950976" cy="95097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716" y="2285634"/>
            <a:ext cx="494508" cy="4945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491" y="3118104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6B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rzecz do nadrobienia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280931" y="3886200"/>
            <a:ext cx="201465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przedmiot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temat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 zaległe zadanie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3 · Frekwencja · ZSZ5 we Wrocławiu · 2026/2027</a:t>
            </a:r>
            <a:endParaRPr lang="en-US" sz="950" dirty="0"/>
          </a:p>
        </p:txBody>
      </p:sp>
      <p:pic>
        <p:nvPicPr>
          <p:cNvPr id="25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GŁÓWNE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7 dni: wybierz jedną barierę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14255" y="658368"/>
            <a:ext cx="1737360" cy="566928"/>
          </a:xfrm>
          <a:prstGeom prst="roundRect">
            <a:avLst>
              <a:gd name="adj" fmla="val 80645"/>
            </a:avLst>
          </a:prstGeom>
          <a:solidFill>
            <a:srgbClr val="B850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567" y="8229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44607" y="65836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0911535" cy="1152144"/>
          </a:xfrm>
          <a:prstGeom prst="roundRect">
            <a:avLst>
              <a:gd name="adj" fmla="val 7143"/>
            </a:avLst>
          </a:prstGeom>
          <a:solidFill>
            <a:srgbClr val="F8EEEC"/>
          </a:solidFill>
          <a:ln/>
        </p:spPr>
      </p:sp>
      <p:sp>
        <p:nvSpPr>
          <p:cNvPr id="8" name="Shape 5"/>
          <p:cNvSpPr/>
          <p:nvPr/>
        </p:nvSpPr>
        <p:spPr>
          <a:xfrm>
            <a:off x="923544" y="1773936"/>
            <a:ext cx="804672" cy="80467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1967057"/>
            <a:ext cx="418429" cy="418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1728216"/>
            <a:ext cx="9219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6B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wybiera jedną własną barierę frekwencji i zapisuje realistyczny krok na najbliższy tydzień.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2" name="Shape 8"/>
          <p:cNvSpPr/>
          <p:nvPr/>
        </p:nvSpPr>
        <p:spPr>
          <a:xfrm>
            <a:off x="877824" y="3282696"/>
            <a:ext cx="512064" cy="512064"/>
          </a:xfrm>
          <a:prstGeom prst="ellipse">
            <a:avLst/>
          </a:prstGeom>
          <a:solidFill>
            <a:srgbClr val="F1DCD9"/>
          </a:solidFill>
          <a:ln/>
        </p:spPr>
      </p:sp>
      <p:sp>
        <p:nvSpPr>
          <p:cNvPr id="13" name="Text 9"/>
          <p:cNvSpPr/>
          <p:nvPr/>
        </p:nvSpPr>
        <p:spPr>
          <a:xfrm>
            <a:off x="877824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7824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Wybór bariery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77824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Transport, sen, komunikacja z rodzicem, kontakt z wychowawcą, jeden zaległy przedmiot.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56506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594250" y="3282696"/>
            <a:ext cx="512064" cy="512064"/>
          </a:xfrm>
          <a:prstGeom prst="ellipse">
            <a:avLst/>
          </a:prstGeom>
          <a:solidFill>
            <a:srgbClr val="F1DCD9"/>
          </a:solidFill>
          <a:ln/>
        </p:spPr>
      </p:sp>
      <p:sp>
        <p:nvSpPr>
          <p:cNvPr id="18" name="Text 14"/>
          <p:cNvSpPr/>
          <p:nvPr/>
        </p:nvSpPr>
        <p:spPr>
          <a:xfrm>
            <a:off x="459425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94250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Zapis kroku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4250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 zdanie: co, kiedy i z kim. Bez ogólników typu „będę się starać”.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72933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8310677" y="3282696"/>
            <a:ext cx="512064" cy="512064"/>
          </a:xfrm>
          <a:prstGeom prst="ellipse">
            <a:avLst/>
          </a:prstGeom>
          <a:solidFill>
            <a:srgbClr val="F1DCD9"/>
          </a:solidFill>
          <a:ln/>
        </p:spPr>
      </p:sp>
      <p:sp>
        <p:nvSpPr>
          <p:cNvPr id="23" name="Text 19"/>
          <p:cNvSpPr/>
          <p:nvPr/>
        </p:nvSpPr>
        <p:spPr>
          <a:xfrm>
            <a:off x="8310677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310677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Karta zostaje u Ciebie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8310677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zbieram kart. Za tydzień pytam tylko, komu się udało.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468112"/>
            <a:ext cx="10911535" cy="676656"/>
          </a:xfrm>
          <a:prstGeom prst="roundRect">
            <a:avLst>
              <a:gd name="adj" fmla="val 9459"/>
            </a:avLst>
          </a:prstGeom>
          <a:solidFill>
            <a:srgbClr val="FBF2F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669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5468112"/>
            <a:ext cx="98599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0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 nie czyta swojej karty na głos i nikt nie musi tłumaczyć się przed klasą ze swojej frekwencji.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3 · Frekwencja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WYJŚCIE Z LEKCJI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Wychodzisz z tej lekcji z trzema rzeczami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9EFEE"/>
          </a:solidFill>
          <a:ln/>
        </p:spPr>
      </p:sp>
      <p:sp>
        <p:nvSpPr>
          <p:cNvPr id="5" name="Shape 3"/>
          <p:cNvSpPr/>
          <p:nvPr/>
        </p:nvSpPr>
        <p:spPr>
          <a:xfrm>
            <a:off x="1867357" y="2203704"/>
            <a:ext cx="987552" cy="9875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70" y="2440716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decyzja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Mój krok na najbliższe siedem dni.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4794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9EFEE"/>
          </a:solidFill>
          <a:ln/>
        </p:spPr>
      </p:sp>
      <p:sp>
        <p:nvSpPr>
          <p:cNvPr id="10" name="Shape 7"/>
          <p:cNvSpPr/>
          <p:nvPr/>
        </p:nvSpPr>
        <p:spPr>
          <a:xfrm>
            <a:off x="5602072" y="2203704"/>
            <a:ext cx="987552" cy="9875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084" y="2440716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250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prośba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9114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Kogo poproszę o pomoc w nadrobieniu.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9509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9EF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336786" y="2203704"/>
            <a:ext cx="987552" cy="9875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98" y="2440716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pytanie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3829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nie wiem o usprawiedliwieniach i terminach.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911535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818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21224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Masz już dużo nieobecności i boisz się o tym mówić? Właśnie dlatego warto przyjść do wychowawcy dziś, a nie w czerwcu.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3 · Frekwencja · ZSZ5 we Wrocławiu · 2026/2027</a:t>
            </a:r>
            <a:endParaRPr lang="en-US" sz="950" dirty="0"/>
          </a:p>
        </p:txBody>
      </p:sp>
      <p:pic>
        <p:nvPicPr>
          <p:cNvPr id="23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Zespół Szkół Zawodowych nr 5 we Wrocławiu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Frekwencja</dc:title>
  <dc:subject>Lekcja wychowawcza 2026/2027</dc:subject>
  <dc:creator>ZSZ5 we Wrocławiu</dc:creator>
  <cp:lastModifiedBy>ZSZ5 we Wrocławiu</cp:lastModifiedBy>
  <cp:revision>1</cp:revision>
  <dcterms:created xsi:type="dcterms:W3CDTF">2026-08-10T20:23:32Z</dcterms:created>
  <dcterms:modified xsi:type="dcterms:W3CDTF">2026-08-10T20:23:32Z</dcterms:modified>
</cp:coreProperties>
</file>