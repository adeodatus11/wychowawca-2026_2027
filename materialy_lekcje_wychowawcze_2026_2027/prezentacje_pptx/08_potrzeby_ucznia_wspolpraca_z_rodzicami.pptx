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 całej lekcji: 30 minut. Grupa: wszystkie klasy. Na slajdach i w ćwiczeniu nie pojawiają się dane osobowe ani przykłady pozwalające rozpoznać konkretnego ucznia. Po slajdach przejdź do ćwiczenia 'Trzy zdania do wychowawcy'. Nie zmuszaj nikogo do mówienia o swojej sytuacji.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 oczekuj odpowiedzi na głos. To pytanie ma zadziałać w głowie, nie w dyskusji.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Powiedz jasno: korzystanie z pomocy pedagoga czy psychologa nie jest oznaką słabości ani nie „idzie na papiery” w sensie potocznym.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Podaj to jako listę do zaznaczenia w myślach, nie do zgłaszania na głos. Zaproś na rozmowę indywidualną po lekcji.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Jeśli relacja z domem jest trudna, wskaż wprost pedagoga i psychologa jako alternatywną pierwszą osobę.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Trzecie zdanie jest najważniejsze. Zmienia rozmowę z proszenia o ratunek na propozycję współpracy.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Jeśli brakuje czasu, ten slajd można pominąć.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Trzy zdania do wychowawcy: 'Mam trudność z...', 'Potrzebuję...', 'Mogę zrobić pierwszy krok...'. Na slajdach i w ćwiczeniu nie pojawiają się dane osobowe ani przykłady pozwalające rozpoznać konkretnego ucznia. Powiedz, że chętnie porozmawiasz indywidualnie – podaj konkretny termin i miejsce.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zdanie jest najważniejszym komunikatem całej lekcji. Powtórz je na koniec.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325880"/>
            <a:ext cx="3749040" cy="3749040"/>
          </a:xfrm>
          <a:prstGeom prst="ellipse">
            <a:avLst/>
          </a:prstGeom>
          <a:solidFill>
            <a:srgbClr val="FBF4ED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1828800"/>
            <a:ext cx="2743200" cy="2743200"/>
          </a:xfrm>
          <a:prstGeom prst="ellipse">
            <a:avLst/>
          </a:prstGeom>
          <a:solidFill>
            <a:srgbClr val="F5E5D7"/>
          </a:solidFill>
          <a:ln/>
        </p:spPr>
      </p:sp>
      <p:sp>
        <p:nvSpPr>
          <p:cNvPr id="4" name="Shape 2"/>
          <p:cNvSpPr/>
          <p:nvPr/>
        </p:nvSpPr>
        <p:spPr>
          <a:xfrm>
            <a:off x="9171432" y="2267712"/>
            <a:ext cx="1865376" cy="1865376"/>
          </a:xfrm>
          <a:prstGeom prst="ellipse">
            <a:avLst/>
          </a:prstGeom>
          <a:solidFill>
            <a:srgbClr val="BF5B0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0" y="2720340"/>
            <a:ext cx="960120" cy="960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868680"/>
            <a:ext cx="841248" cy="841248"/>
          </a:xfrm>
          <a:prstGeom prst="ellipse">
            <a:avLst/>
          </a:prstGeom>
          <a:solidFill>
            <a:srgbClr val="F6E8D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8686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24D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691640" y="10149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BF5B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LEKCJA WYCHOWAWCZA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691640" y="1280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ZSZ5 we Wrocławiu · rok szkolny 2026/2027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1874520"/>
            <a:ext cx="7360920" cy="198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Moje potrzeby w szkole:</a:t>
            </a:r>
            <a:endParaRPr lang="en-US" sz="33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prosić o wsparcie</a:t>
            </a:r>
            <a:endParaRPr lang="en-US" sz="33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współpracować</a:t>
            </a:r>
            <a:endParaRPr lang="en-US" sz="33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rodzicem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640080" y="4097528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Trudność w szkole ma uruchamiać rozmowę i wsparcie, a nie ciche znikanie z lekcji. Dziś uczymy się, jak tę rozmowę zacząć.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40080" y="5074920"/>
            <a:ext cx="1192378" cy="475488"/>
          </a:xfrm>
          <a:prstGeom prst="roundRect">
            <a:avLst>
              <a:gd name="adj" fmla="val 96154"/>
            </a:avLst>
          </a:prstGeom>
          <a:solidFill>
            <a:srgbClr val="F9EFE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520293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78992" y="5074920"/>
            <a:ext cx="6803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44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033626" y="5074920"/>
            <a:ext cx="1819656" cy="475488"/>
          </a:xfrm>
          <a:prstGeom prst="roundRect">
            <a:avLst>
              <a:gd name="adj" fmla="val 96154"/>
            </a:avLst>
          </a:prstGeom>
          <a:solidFill>
            <a:srgbClr val="F9EFE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074" y="520293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72538" y="5074920"/>
            <a:ext cx="1307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44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klasy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8 · Moje potrzeby i współpraca z rodzicem · ZSZ5 we Wrocławiu · 2026/2027</a:t>
            </a:r>
            <a:endParaRPr lang="en-US" sz="950" dirty="0"/>
          </a:p>
        </p:txBody>
      </p:sp>
      <p:pic>
        <p:nvPicPr>
          <p:cNvPr id="19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F5B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WEJŚCIE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Zacznijmy od sytuacji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10911535" cy="3611880"/>
          </a:xfrm>
          <a:prstGeom prst="roundRect">
            <a:avLst>
              <a:gd name="adj" fmla="val 2532"/>
            </a:avLst>
          </a:prstGeom>
          <a:solidFill>
            <a:srgbClr val="F9EFE6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2884932"/>
            <a:ext cx="1170432" cy="1170432"/>
          </a:xfrm>
          <a:prstGeom prst="ellipse">
            <a:avLst/>
          </a:prstGeom>
          <a:solidFill>
            <a:srgbClr val="BF5B0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456" y="3165836"/>
            <a:ext cx="608625" cy="6086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6040" y="1938528"/>
            <a:ext cx="830549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6F35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Masz trudność, o której nikt jeszcze nie wie. Co jest łatwiejsze: powiedzieć o niej teraz czy tłumaczyć się z jej skutków w czerwcu?</a:t>
            </a:r>
            <a:endParaRPr lang="en-US" sz="2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5522976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5440680"/>
            <a:ext cx="104543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Odpowiedź znasz. Trudne jest nie to, co lepsze, ale pierwsze zdanie.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8 · Moje potrzeby i współpraca z rodzicem · ZSZ5 we Wrocławiu · 2026/2027</a:t>
            </a:r>
            <a:endParaRPr lang="en-US" sz="950" dirty="0"/>
          </a:p>
        </p:txBody>
      </p:sp>
      <p:pic>
        <p:nvPicPr>
          <p:cNvPr id="11" name="Image 2" descr="/sessions/compassionate-clever-carson/mnt/outputs/build/logo_t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F5B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PRIORYTET MEN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Skąd bierze się temat tej lekcji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2148840"/>
          </a:xfrm>
          <a:prstGeom prst="roundRect">
            <a:avLst>
              <a:gd name="adj" fmla="val 4255"/>
            </a:avLst>
          </a:prstGeom>
          <a:solidFill>
            <a:srgbClr val="F9EFE6"/>
          </a:solidFill>
          <a:ln/>
        </p:spPr>
      </p:sp>
      <p:sp>
        <p:nvSpPr>
          <p:cNvPr id="5" name="Shape 3"/>
          <p:cNvSpPr/>
          <p:nvPr/>
        </p:nvSpPr>
        <p:spPr>
          <a:xfrm>
            <a:off x="978408" y="2327148"/>
            <a:ext cx="877824" cy="877824"/>
          </a:xfrm>
          <a:prstGeom prst="ellipse">
            <a:avLst/>
          </a:prstGeom>
          <a:solidFill>
            <a:srgbClr val="BF5B0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086" y="2537826"/>
            <a:ext cx="456468" cy="456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0280" y="1920240"/>
            <a:ext cx="86712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50" b="1" dirty="0">
                <a:solidFill>
                  <a:srgbClr val="7337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Rozpoznawanie potrzeb dzieci i młodzieży, współpraca z rodzicami oraz pomoc psychologiczno-pedagogiczna i wychowawcza.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2240280" y="3364992"/>
            <a:ext cx="8671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Kierunki polityki oświatowej państwa na rok szkolny 2026/2027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4251960"/>
            <a:ext cx="3466490" cy="1892808"/>
          </a:xfrm>
          <a:prstGeom prst="roundRect">
            <a:avLst>
              <a:gd name="adj" fmla="val 3865"/>
            </a:avLst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886968" y="4498848"/>
            <a:ext cx="640080" cy="640080"/>
          </a:xfrm>
          <a:prstGeom prst="ellipse">
            <a:avLst/>
          </a:prstGeom>
          <a:solidFill>
            <a:srgbClr val="BF5B0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87" y="4652467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96112" y="5221224"/>
            <a:ext cx="295442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Potrzebę trzeba nazwać, żeby ktoś mógł pomóc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362602" y="4251960"/>
            <a:ext cx="3466490" cy="1892808"/>
          </a:xfrm>
          <a:prstGeom prst="roundRect">
            <a:avLst>
              <a:gd name="adj" fmla="val 3865"/>
            </a:avLst>
          </a:prstGeom>
          <a:solidFill>
            <a:srgbClr val="F5F7FA"/>
          </a:solidFill>
          <a:ln/>
        </p:spPr>
      </p:sp>
      <p:sp>
        <p:nvSpPr>
          <p:cNvPr id="14" name="Shape 10"/>
          <p:cNvSpPr/>
          <p:nvPr/>
        </p:nvSpPr>
        <p:spPr>
          <a:xfrm>
            <a:off x="4609490" y="4498848"/>
            <a:ext cx="640080" cy="640080"/>
          </a:xfrm>
          <a:prstGeom prst="ellipse">
            <a:avLst/>
          </a:prstGeom>
          <a:solidFill>
            <a:srgbClr val="BF5B0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110" y="4652467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8634" y="5221224"/>
            <a:ext cx="295442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Szkoła i dom działają skuteczniej razem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085125" y="4251960"/>
            <a:ext cx="3466490" cy="1892808"/>
          </a:xfrm>
          <a:prstGeom prst="roundRect">
            <a:avLst>
              <a:gd name="adj" fmla="val 3865"/>
            </a:avLst>
          </a:prstGeom>
          <a:solidFill>
            <a:srgbClr val="F5F7FA"/>
          </a:solidFill>
          <a:ln/>
        </p:spPr>
      </p:sp>
      <p:sp>
        <p:nvSpPr>
          <p:cNvPr id="18" name="Shape 13"/>
          <p:cNvSpPr/>
          <p:nvPr/>
        </p:nvSpPr>
        <p:spPr>
          <a:xfrm>
            <a:off x="8332013" y="4498848"/>
            <a:ext cx="640080" cy="640080"/>
          </a:xfrm>
          <a:prstGeom prst="ellipse">
            <a:avLst/>
          </a:prstGeom>
          <a:solidFill>
            <a:srgbClr val="BF5B04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4652467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41157" y="5221224"/>
            <a:ext cx="295442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Pomoc psychologiczno-pedagogiczna to standard, nie wyjątek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8 · Moje potrzeby i współpraca z rodzicem · ZSZ5 we Wrocławiu · 2026/2027</a:t>
            </a:r>
            <a:endParaRPr lang="en-US" sz="950" dirty="0"/>
          </a:p>
        </p:txBody>
      </p:sp>
      <p:pic>
        <p:nvPicPr>
          <p:cNvPr id="22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F5B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ROZPOZNANIE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Sygnały, że potrzebujesz wsparcia — nie „za tydzień”, ale teraz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37944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FBF4ED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007108"/>
            <a:ext cx="621792" cy="621792"/>
          </a:xfrm>
          <a:prstGeom prst="ellipse">
            <a:avLst/>
          </a:prstGeom>
          <a:solidFill>
            <a:srgbClr val="BF5B0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342" y="2156338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1972361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Unikam jednego przedmiotu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77840" y="1972361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Nieobecność akurat w tym dniu albo w tej godzinie zdarza się zbyt regularnie.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944368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3113532"/>
            <a:ext cx="621792" cy="621792"/>
          </a:xfrm>
          <a:prstGeom prst="ellipse">
            <a:avLst/>
          </a:prstGeom>
          <a:solidFill>
            <a:srgbClr val="BF5B0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342" y="3262762"/>
            <a:ext cx="323332" cy="323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55648" y="3078785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Przestaję oddawać prace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77840" y="3078785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Zaległości rosną, a ja przestaję pytać, bo wstyd.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050792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FBF4ED"/>
          </a:solidFill>
          <a:ln/>
        </p:spPr>
      </p:sp>
      <p:sp>
        <p:nvSpPr>
          <p:cNvPr id="15" name="Shape 11"/>
          <p:cNvSpPr/>
          <p:nvPr/>
        </p:nvSpPr>
        <p:spPr>
          <a:xfrm>
            <a:off x="896112" y="4219956"/>
            <a:ext cx="621792" cy="621792"/>
          </a:xfrm>
          <a:prstGeom prst="ellipse">
            <a:avLst/>
          </a:prstGeom>
          <a:solidFill>
            <a:srgbClr val="BF5B0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342" y="4369186"/>
            <a:ext cx="323332" cy="3233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55648" y="4185209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chcę iść do szkoły w konkretne dni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577840" y="4185209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Ból brzucha lub głowy wraca w tym samym rytmie co plan lekcji.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" y="5157216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5326380"/>
            <a:ext cx="621792" cy="621792"/>
          </a:xfrm>
          <a:prstGeom prst="ellipse">
            <a:avLst/>
          </a:prstGeom>
          <a:solidFill>
            <a:srgbClr val="BF5B0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342" y="5475610"/>
            <a:ext cx="323332" cy="3233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55648" y="5291633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Chowam problem przed domem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577840" y="5291633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Rodzic dowiaduje się na zebraniu, a wtedy rozmowa jest już trudniejsza.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8 · Moje potrzeby i współpraca z rodzicem · ZSZ5 we Wrocławiu · 2026/2027</a:t>
            </a:r>
            <a:endParaRPr lang="en-US" sz="950" dirty="0"/>
          </a:p>
        </p:txBody>
      </p:sp>
      <p:pic>
        <p:nvPicPr>
          <p:cNvPr id="25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F5B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Trzy miejsca, w których zaczyna się wsparcie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FBF4ED"/>
          </a:solidFill>
          <a:ln/>
        </p:spPr>
      </p:sp>
      <p:sp>
        <p:nvSpPr>
          <p:cNvPr id="5" name="Shape 3"/>
          <p:cNvSpPr/>
          <p:nvPr/>
        </p:nvSpPr>
        <p:spPr>
          <a:xfrm>
            <a:off x="1891741" y="2057400"/>
            <a:ext cx="950976" cy="950976"/>
          </a:xfrm>
          <a:prstGeom prst="ellipse">
            <a:avLst/>
          </a:prstGeom>
          <a:solidFill>
            <a:srgbClr val="BF5B0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9975" y="2285634"/>
            <a:ext cx="494508" cy="4945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6F35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Wychowawca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32688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pierwszy kontakt w większości spraw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 Twoją sytuację szkolną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może uruchomić dalsze wsparcie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68698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FBF4ED"/>
          </a:solidFill>
          <a:ln/>
        </p:spPr>
      </p:sp>
      <p:sp>
        <p:nvSpPr>
          <p:cNvPr id="10" name="Shape 7"/>
          <p:cNvSpPr/>
          <p:nvPr/>
        </p:nvSpPr>
        <p:spPr>
          <a:xfrm>
            <a:off x="5620360" y="2057400"/>
            <a:ext cx="950976" cy="950976"/>
          </a:xfrm>
          <a:prstGeom prst="ellipse">
            <a:avLst/>
          </a:prstGeom>
          <a:solidFill>
            <a:srgbClr val="BF5B0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594" y="2285634"/>
            <a:ext cx="494508" cy="4945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9866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6F35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 i psycholog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1306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rozmowa bez oceniania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pomoc psychologiczno-pedagogiczna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można przyjść samemu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97317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FBF4ED"/>
          </a:solidFill>
          <a:ln/>
        </p:spPr>
      </p:sp>
      <p:sp>
        <p:nvSpPr>
          <p:cNvPr id="15" name="Shape 11"/>
          <p:cNvSpPr/>
          <p:nvPr/>
        </p:nvSpPr>
        <p:spPr>
          <a:xfrm>
            <a:off x="9348978" y="2057400"/>
            <a:ext cx="950976" cy="950976"/>
          </a:xfrm>
          <a:prstGeom prst="ellipse">
            <a:avLst/>
          </a:prstGeom>
          <a:solidFill>
            <a:srgbClr val="BF5B0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212" y="2285634"/>
            <a:ext cx="494508" cy="4945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98485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6F35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Rodzic lub opiekun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89925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potrzebuje faktów, nie domysłów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działa skuteczniej, gdy wie wcześnie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dostęp do dziennika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8 · Moje potrzeby i współpraca z rodzicem · ZSZ5 we Wrocławiu · 2026/2027</a:t>
            </a:r>
            <a:endParaRPr lang="en-US" sz="950" dirty="0"/>
          </a:p>
        </p:txBody>
      </p:sp>
      <p:pic>
        <p:nvPicPr>
          <p:cNvPr id="2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F5B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NARZĘDZIE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Trzy zdania, które otwierają rozmowę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FBF4ED"/>
          </a:solidFill>
          <a:ln/>
        </p:spPr>
      </p:sp>
      <p:sp>
        <p:nvSpPr>
          <p:cNvPr id="5" name="Shape 3"/>
          <p:cNvSpPr/>
          <p:nvPr/>
        </p:nvSpPr>
        <p:spPr>
          <a:xfrm>
            <a:off x="1891741" y="2057400"/>
            <a:ext cx="950976" cy="950976"/>
          </a:xfrm>
          <a:prstGeom prst="ellipse">
            <a:avLst/>
          </a:prstGeom>
          <a:solidFill>
            <a:srgbClr val="BF5B0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9975" y="2285634"/>
            <a:ext cx="494508" cy="4945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6F35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„Mam trudność z…”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32688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konkretny przedmiot lub sytuacja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tłumaczenia się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fakt, nie ocena siebie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68698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FBF4ED"/>
          </a:solidFill>
          <a:ln/>
        </p:spPr>
      </p:sp>
      <p:sp>
        <p:nvSpPr>
          <p:cNvPr id="10" name="Shape 7"/>
          <p:cNvSpPr/>
          <p:nvPr/>
        </p:nvSpPr>
        <p:spPr>
          <a:xfrm>
            <a:off x="5620360" y="2057400"/>
            <a:ext cx="950976" cy="950976"/>
          </a:xfrm>
          <a:prstGeom prst="ellipse">
            <a:avLst/>
          </a:prstGeom>
          <a:solidFill>
            <a:srgbClr val="BF5B0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594" y="2285634"/>
            <a:ext cx="494508" cy="4945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9866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6F35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„Potrzebuję…”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1306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dodatkowe wyjaśnienie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inny termin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 z pedagogiem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97317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FBF4ED"/>
          </a:solidFill>
          <a:ln/>
        </p:spPr>
      </p:sp>
      <p:sp>
        <p:nvSpPr>
          <p:cNvPr id="15" name="Shape 11"/>
          <p:cNvSpPr/>
          <p:nvPr/>
        </p:nvSpPr>
        <p:spPr>
          <a:xfrm>
            <a:off x="9348978" y="2057400"/>
            <a:ext cx="950976" cy="950976"/>
          </a:xfrm>
          <a:prstGeom prst="ellipse">
            <a:avLst/>
          </a:prstGeom>
          <a:solidFill>
            <a:srgbClr val="BF5B0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212" y="2285634"/>
            <a:ext cx="494508" cy="4945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98485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6F35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„Mogę zrobić pierwszy krok…”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89925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bierzesz na siebie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kiedy to zrobisz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pokazujesz, że to współpraca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8 · Moje potrzeby i współpraca z rodzicem · ZSZ5 we Wrocławiu · 2026/2027</a:t>
            </a:r>
            <a:endParaRPr lang="en-US" sz="950" dirty="0"/>
          </a:p>
        </p:txBody>
      </p:sp>
      <p:pic>
        <p:nvPicPr>
          <p:cNvPr id="2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F5B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SŁOWA KLUCZOWE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Pięć słów, które zostają po tej lekcji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992112" cy="3108960"/>
          </a:xfrm>
          <a:prstGeom prst="roundRect">
            <a:avLst>
              <a:gd name="adj" fmla="val 4131"/>
            </a:avLst>
          </a:prstGeom>
          <a:solidFill>
            <a:srgbClr val="F9F0E8"/>
          </a:solidFill>
          <a:ln/>
        </p:spPr>
      </p:sp>
      <p:sp>
        <p:nvSpPr>
          <p:cNvPr id="5" name="Shape 3"/>
          <p:cNvSpPr/>
          <p:nvPr/>
        </p:nvSpPr>
        <p:spPr>
          <a:xfrm>
            <a:off x="1206368" y="2249424"/>
            <a:ext cx="859536" cy="859536"/>
          </a:xfrm>
          <a:prstGeom prst="ellipse">
            <a:avLst/>
          </a:prstGeom>
          <a:solidFill>
            <a:srgbClr val="BF5B0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2657" y="2455713"/>
            <a:ext cx="446959" cy="4469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6F35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Potrzeby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68096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nazwane wprost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869936" y="1965960"/>
            <a:ext cx="1992112" cy="3108960"/>
          </a:xfrm>
          <a:prstGeom prst="roundRect">
            <a:avLst>
              <a:gd name="adj" fmla="val 4131"/>
            </a:avLst>
          </a:prstGeom>
          <a:solidFill>
            <a:srgbClr val="F9F0E8"/>
          </a:solidFill>
          <a:ln/>
        </p:spPr>
      </p:sp>
      <p:sp>
        <p:nvSpPr>
          <p:cNvPr id="10" name="Shape 7"/>
          <p:cNvSpPr/>
          <p:nvPr/>
        </p:nvSpPr>
        <p:spPr>
          <a:xfrm>
            <a:off x="3436224" y="2249424"/>
            <a:ext cx="859536" cy="859536"/>
          </a:xfrm>
          <a:prstGeom prst="ellipse">
            <a:avLst/>
          </a:prstGeom>
          <a:solidFill>
            <a:srgbClr val="BF5B0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512" y="2455713"/>
            <a:ext cx="446959" cy="4469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9664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6F35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Rozmowa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2997952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zamiast znikania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99792" y="1965960"/>
            <a:ext cx="1992112" cy="3108960"/>
          </a:xfrm>
          <a:prstGeom prst="roundRect">
            <a:avLst>
              <a:gd name="adj" fmla="val 4131"/>
            </a:avLst>
          </a:prstGeom>
          <a:solidFill>
            <a:srgbClr val="F9F0E8"/>
          </a:solidFill>
          <a:ln/>
        </p:spPr>
      </p:sp>
      <p:sp>
        <p:nvSpPr>
          <p:cNvPr id="15" name="Shape 11"/>
          <p:cNvSpPr/>
          <p:nvPr/>
        </p:nvSpPr>
        <p:spPr>
          <a:xfrm>
            <a:off x="5666080" y="2249424"/>
            <a:ext cx="859536" cy="859536"/>
          </a:xfrm>
          <a:prstGeom prst="ellipse">
            <a:avLst/>
          </a:prstGeom>
          <a:solidFill>
            <a:srgbClr val="BF5B0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368" y="2455713"/>
            <a:ext cx="446959" cy="4469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09520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6F35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Rodzic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227808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sojusznik, nie przeciwnik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329648" y="1965960"/>
            <a:ext cx="1992112" cy="3108960"/>
          </a:xfrm>
          <a:prstGeom prst="roundRect">
            <a:avLst>
              <a:gd name="adj" fmla="val 4131"/>
            </a:avLst>
          </a:prstGeom>
          <a:solidFill>
            <a:srgbClr val="F9F0E8"/>
          </a:solidFill>
          <a:ln/>
        </p:spPr>
      </p:sp>
      <p:sp>
        <p:nvSpPr>
          <p:cNvPr id="20" name="Shape 15"/>
          <p:cNvSpPr/>
          <p:nvPr/>
        </p:nvSpPr>
        <p:spPr>
          <a:xfrm>
            <a:off x="7895935" y="2249424"/>
            <a:ext cx="859536" cy="859536"/>
          </a:xfrm>
          <a:prstGeom prst="ellipse">
            <a:avLst/>
          </a:prstGeom>
          <a:solidFill>
            <a:srgbClr val="BF5B0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224" y="2455713"/>
            <a:ext cx="446959" cy="4469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39376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6F35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457664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dostępny dla każdego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559503" y="1965960"/>
            <a:ext cx="1992112" cy="3108960"/>
          </a:xfrm>
          <a:prstGeom prst="roundRect">
            <a:avLst>
              <a:gd name="adj" fmla="val 4131"/>
            </a:avLst>
          </a:prstGeom>
          <a:solidFill>
            <a:srgbClr val="F9F0E8"/>
          </a:solidFill>
          <a:ln/>
        </p:spPr>
      </p:sp>
      <p:sp>
        <p:nvSpPr>
          <p:cNvPr id="25" name="Shape 19"/>
          <p:cNvSpPr/>
          <p:nvPr/>
        </p:nvSpPr>
        <p:spPr>
          <a:xfrm>
            <a:off x="10125791" y="2249424"/>
            <a:ext cx="859536" cy="859536"/>
          </a:xfrm>
          <a:prstGeom prst="ellipse">
            <a:avLst/>
          </a:prstGeom>
          <a:solidFill>
            <a:srgbClr val="BF5B0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080" y="2455713"/>
            <a:ext cx="446959" cy="44695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69231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6F35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9687519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wsparcie, nie diagnoza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8 · Moje potrzeby i współpraca z rodzicem · ZSZ5 we Wrocławiu · 2026/2027</a:t>
            </a:r>
            <a:endParaRPr lang="en-US" sz="950" dirty="0"/>
          </a:p>
        </p:txBody>
      </p:sp>
      <p:pic>
        <p:nvPicPr>
          <p:cNvPr id="30" name="Image 5" descr="/sessions/compassionate-clever-carson/mnt/outputs/build/logo_tr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F5B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ĆWICZENIE GŁÓWNE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Trzy zdania do wychowawcy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14255" y="658368"/>
            <a:ext cx="1737360" cy="566928"/>
          </a:xfrm>
          <a:prstGeom prst="roundRect">
            <a:avLst>
              <a:gd name="adj" fmla="val 80645"/>
            </a:avLst>
          </a:prstGeom>
          <a:solidFill>
            <a:srgbClr val="BF5B0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4567" y="8229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44607" y="65836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10911535" cy="1152144"/>
          </a:xfrm>
          <a:prstGeom prst="roundRect">
            <a:avLst>
              <a:gd name="adj" fmla="val 7143"/>
            </a:avLst>
          </a:prstGeom>
          <a:solidFill>
            <a:srgbClr val="F9EFE6"/>
          </a:solidFill>
          <a:ln/>
        </p:spPr>
      </p:sp>
      <p:sp>
        <p:nvSpPr>
          <p:cNvPr id="8" name="Shape 5"/>
          <p:cNvSpPr/>
          <p:nvPr/>
        </p:nvSpPr>
        <p:spPr>
          <a:xfrm>
            <a:off x="923544" y="1773936"/>
            <a:ext cx="804672" cy="804672"/>
          </a:xfrm>
          <a:prstGeom prst="ellipse">
            <a:avLst/>
          </a:prstGeom>
          <a:solidFill>
            <a:srgbClr val="BF5B0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665" y="1967057"/>
            <a:ext cx="418429" cy="4184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65960" y="1728216"/>
            <a:ext cx="92198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6F35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Każdy pisze trzy zdania na kartce dla siebie. Nie zbieram kartek i nikt nie czyta ich na głos.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640080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12" name="Shape 8"/>
          <p:cNvSpPr/>
          <p:nvPr/>
        </p:nvSpPr>
        <p:spPr>
          <a:xfrm>
            <a:off x="877824" y="3282696"/>
            <a:ext cx="512064" cy="512064"/>
          </a:xfrm>
          <a:prstGeom prst="ellipse">
            <a:avLst/>
          </a:prstGeom>
          <a:solidFill>
            <a:srgbClr val="F2DECD"/>
          </a:solidFill>
          <a:ln/>
        </p:spPr>
      </p:sp>
      <p:sp>
        <p:nvSpPr>
          <p:cNvPr id="13" name="Text 9"/>
          <p:cNvSpPr/>
          <p:nvPr/>
        </p:nvSpPr>
        <p:spPr>
          <a:xfrm>
            <a:off x="877824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24D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77824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„Mam trudność z…”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877824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konkretna rzecz. Nie „ze wszystkim”.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356506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17" name="Shape 13"/>
          <p:cNvSpPr/>
          <p:nvPr/>
        </p:nvSpPr>
        <p:spPr>
          <a:xfrm>
            <a:off x="4594250" y="3282696"/>
            <a:ext cx="512064" cy="512064"/>
          </a:xfrm>
          <a:prstGeom prst="ellipse">
            <a:avLst/>
          </a:prstGeom>
          <a:solidFill>
            <a:srgbClr val="F2DECD"/>
          </a:solidFill>
          <a:ln/>
        </p:spPr>
      </p:sp>
      <p:sp>
        <p:nvSpPr>
          <p:cNvPr id="18" name="Text 14"/>
          <p:cNvSpPr/>
          <p:nvPr/>
        </p:nvSpPr>
        <p:spPr>
          <a:xfrm>
            <a:off x="4594250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24D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594250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„Potrzebuję…”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594250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Konkretna pomoc, którą da się zorganizować w szkole.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072933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22" name="Shape 18"/>
          <p:cNvSpPr/>
          <p:nvPr/>
        </p:nvSpPr>
        <p:spPr>
          <a:xfrm>
            <a:off x="8310677" y="3282696"/>
            <a:ext cx="512064" cy="512064"/>
          </a:xfrm>
          <a:prstGeom prst="ellipse">
            <a:avLst/>
          </a:prstGeom>
          <a:solidFill>
            <a:srgbClr val="F2DECD"/>
          </a:solidFill>
          <a:ln/>
        </p:spPr>
      </p:sp>
      <p:sp>
        <p:nvSpPr>
          <p:cNvPr id="23" name="Text 19"/>
          <p:cNvSpPr/>
          <p:nvPr/>
        </p:nvSpPr>
        <p:spPr>
          <a:xfrm>
            <a:off x="8310677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24D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8310677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„Mogę zrobić pierwszy krok…”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8310677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Coś małego, co zrobisz w ciągu trzech dni.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0080" y="5468112"/>
            <a:ext cx="10911535" cy="676656"/>
          </a:xfrm>
          <a:prstGeom prst="roundRect">
            <a:avLst>
              <a:gd name="adj" fmla="val 9459"/>
            </a:avLst>
          </a:prstGeom>
          <a:solidFill>
            <a:srgbClr val="FBF2F2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66928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17320" y="5468112"/>
            <a:ext cx="98599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90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Kartki zostają u uczniów. Nikt nie musi ujawniać swojej sytuacji przed klasą.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8 · Moje potrzeby i współpraca z rodzicem · ZSZ5 we Wrocławiu · 2026/2027</a:t>
            </a:r>
            <a:endParaRPr lang="en-US" sz="950" dirty="0"/>
          </a:p>
        </p:txBody>
      </p:sp>
      <p:pic>
        <p:nvPicPr>
          <p:cNvPr id="3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F5B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WYJŚCIE Z LEKCJI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Wychodzisz z tej lekcji z trzema rzeczami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F9F0E8"/>
          </a:solidFill>
          <a:ln/>
        </p:spPr>
      </p:sp>
      <p:sp>
        <p:nvSpPr>
          <p:cNvPr id="5" name="Shape 3"/>
          <p:cNvSpPr/>
          <p:nvPr/>
        </p:nvSpPr>
        <p:spPr>
          <a:xfrm>
            <a:off x="1867357" y="2203704"/>
            <a:ext cx="987552" cy="987552"/>
          </a:xfrm>
          <a:prstGeom prst="ellipse">
            <a:avLst/>
          </a:prstGeom>
          <a:solidFill>
            <a:srgbClr val="BF5B0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4370" y="2440716"/>
            <a:ext cx="513527" cy="513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F35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decyzja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konkretnie zrobię w tym tygodniu.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74794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F9F0E8"/>
          </a:solidFill>
          <a:ln/>
        </p:spPr>
      </p:sp>
      <p:sp>
        <p:nvSpPr>
          <p:cNvPr id="10" name="Shape 7"/>
          <p:cNvSpPr/>
          <p:nvPr/>
        </p:nvSpPr>
        <p:spPr>
          <a:xfrm>
            <a:off x="5602072" y="2203704"/>
            <a:ext cx="987552" cy="987552"/>
          </a:xfrm>
          <a:prstGeom prst="ellipse">
            <a:avLst/>
          </a:prstGeom>
          <a:solidFill>
            <a:srgbClr val="BF5B0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084" y="2440716"/>
            <a:ext cx="513527" cy="513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4250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F35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prośba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49114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 i kogo poproszę o pomoc.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09509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F9F0E8"/>
          </a:solidFill>
          <a:ln/>
        </p:spPr>
      </p:sp>
      <p:sp>
        <p:nvSpPr>
          <p:cNvPr id="15" name="Shape 11"/>
          <p:cNvSpPr/>
          <p:nvPr/>
        </p:nvSpPr>
        <p:spPr>
          <a:xfrm>
            <a:off x="9336786" y="2203704"/>
            <a:ext cx="987552" cy="987552"/>
          </a:xfrm>
          <a:prstGeom prst="ellipse">
            <a:avLst/>
          </a:prstGeom>
          <a:solidFill>
            <a:srgbClr val="BF5B0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98" y="2440716"/>
            <a:ext cx="513527" cy="513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8965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F35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 pytanie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83829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Czego jeszcze nie rozumiem i muszę dopytać.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5166360"/>
            <a:ext cx="10911535" cy="978408"/>
          </a:xfrm>
          <a:prstGeom prst="roundRect">
            <a:avLst>
              <a:gd name="adj" fmla="val 7477"/>
            </a:avLst>
          </a:prstGeom>
          <a:solidFill>
            <a:srgbClr val="F5F7F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48182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5221224"/>
            <a:ext cx="9631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musisz mieć „wystarczająco dużego” problemu, żeby przyjść do wychowawcy, pedagoga albo psychologa. Wystarczy, że jest Twój.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8 · Moje potrzeby i współpraca z rodzicem · ZSZ5 we Wrocławiu · 2026/2027</a:t>
            </a:r>
            <a:endParaRPr lang="en-US" sz="950" dirty="0"/>
          </a:p>
        </p:txBody>
      </p:sp>
      <p:pic>
        <p:nvPicPr>
          <p:cNvPr id="23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Zespół Szkół Zawodowych nr 5 we Wrocławiu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Moje potrzeby w szkole</dc:title>
  <dc:subject>Lekcja wychowawcza 2026/2027</dc:subject>
  <dc:creator>ZSZ5 we Wrocławiu</dc:creator>
  <cp:lastModifiedBy>ZSZ5 we Wrocławiu</cp:lastModifiedBy>
  <cp:revision>1</cp:revision>
  <dcterms:created xsi:type="dcterms:W3CDTF">2026-08-10T20:23:32Z</dcterms:created>
  <dcterms:modified xsi:type="dcterms:W3CDTF">2026-08-10T20:23:32Z</dcterms:modified>
</cp:coreProperties>
</file>