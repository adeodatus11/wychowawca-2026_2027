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Po slajdach przejdź do ćwiczenia: trzy case studies. Pracujcie na aktualnym pliku statutu ze strony szkoły.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Zbierz dwie–trzy odpowiedzi. Ktoś zwykle powie 'dyrektor' – dopowiedz, że dyrektor też działa na podstawie statutu.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Mocny komunikat wychowawczy: znajomość statutu daje uczniowi narzędzie, a nie nakłada kolejny obowiązek.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Jeśli masz projektor i internet, wejdź na stronę na żywo. Ta jedna minuta zapamiętuje się lepiej niż cały slajd.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 klasę, który z tych pięciu punktów chcieliby przeczytać dokładniej. To dobry temat na kolejną godzinę wychowawczą.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Szczegóły dotyczące każdego typu szkoły – liczba lat, egzaminy, wymagania – zawsze sprawdzajcie w aktualnym statucie i w informacjach szkoły, a nie z pamięci.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podawaj progów z pamięci. Jeśli uczniowie pytają o konkretne liczby, otwórzcie razem statut – to najlepszy możliwy przykład korzystania z dokumentu.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study: 'Uczeń był nieobecny przez kilka dni i przynosi usprawiedliwienie po czasie'; 'Uczeń BS I nie dostarcza dzienniczka praktyk'; 'Uczeń ma ponad połowę nieobecności na przedmiocie'. Grupy wskazują, czego trzeba szukać w statucie. Na slajdach i w ćwiczeniu nie pojawiają się dane osobowe ani przykłady pozwalające rozpoznać konkretnego ucznia.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Podaj klasie link do statutu przez dziennik, żeby nikt nie musiał go szukać po lekcji.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F5F0F2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E8DEE1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EBE2E5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27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7360920" cy="198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ZSZ5: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go znaleźć,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reguluje i jak z niego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korzystać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640080" y="40975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to nie dokument dla dorosłych. To zestaw zasad, na które możesz się powołać, kiedy uważasz, że coś jest niesprawiedliwe.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F0EAE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F0E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2 · Statut ZSZ5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F0EAED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Kolega mówi: „nauczyciel nie ma prawa mi tego zabronić”. Ty uważasz, że ma. Kto rozstrzyga taki spór — i na jakiej podstawie?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głośność argumentu i nie liczba osób, które się zgadzają. Rozstrzyga dokument, który obowiązuje obie strony.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2 · Statut ZSZ5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CZYM JEST STATUT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to instrukcja obsługi szkoły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874520"/>
          </a:xfrm>
          <a:prstGeom prst="roundRect">
            <a:avLst>
              <a:gd name="adj" fmla="val 4878"/>
            </a:avLst>
          </a:prstGeom>
          <a:solidFill>
            <a:srgbClr val="F0EAED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189988"/>
            <a:ext cx="877824" cy="877824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40066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411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sam dokument obowiązuje uczniów i nauczycieli. Dlatego jest punktem odniesienia w sporach: nie „bo tak uważam”, ale „bo tak jest zapisane”.</a:t>
            </a:r>
            <a:endParaRPr lang="en-US" sz="205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3466490" cy="2167128"/>
          </a:xfrm>
          <a:prstGeom prst="roundRect">
            <a:avLst>
              <a:gd name="adj" fmla="val 3376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886968" y="4224528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378147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4946904"/>
            <a:ext cx="295442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tylko dokument prawny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62602" y="3977640"/>
            <a:ext cx="3466490" cy="2167128"/>
          </a:xfrm>
          <a:prstGeom prst="roundRect">
            <a:avLst>
              <a:gd name="adj" fmla="val 3376"/>
            </a:avLst>
          </a:prstGeom>
          <a:solidFill>
            <a:srgbClr val="F5F7FA"/>
          </a:solidFill>
          <a:ln/>
        </p:spPr>
      </p:sp>
      <p:sp>
        <p:nvSpPr>
          <p:cNvPr id="13" name="Shape 9"/>
          <p:cNvSpPr/>
          <p:nvPr/>
        </p:nvSpPr>
        <p:spPr>
          <a:xfrm>
            <a:off x="4609490" y="4224528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4378147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18634" y="4946904"/>
            <a:ext cx="295442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Zasady wspólne dla uczniów i nauczycieli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85125" y="3977640"/>
            <a:ext cx="3466490" cy="2167128"/>
          </a:xfrm>
          <a:prstGeom prst="roundRect">
            <a:avLst>
              <a:gd name="adj" fmla="val 3376"/>
            </a:avLst>
          </a:prstGeom>
          <a:solidFill>
            <a:srgbClr val="F5F7FA"/>
          </a:solidFill>
          <a:ln/>
        </p:spPr>
      </p:sp>
      <p:sp>
        <p:nvSpPr>
          <p:cNvPr id="17" name="Shape 12"/>
          <p:cNvSpPr/>
          <p:nvPr/>
        </p:nvSpPr>
        <p:spPr>
          <a:xfrm>
            <a:off x="8332013" y="4224528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378147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41157" y="4946904"/>
            <a:ext cx="295442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 odniesienia w sporach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2 · Statut ZSZ5 · ZSZ5 we Wrocławiu · 2026/2027</a:t>
            </a:r>
            <a:endParaRPr lang="en-US" sz="950" dirty="0"/>
          </a:p>
        </p:txBody>
      </p:sp>
      <p:pic>
        <p:nvPicPr>
          <p:cNvPr id="21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GO ZNALEŹĆ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kliknięcia do aktualnej wersji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F3EEF0"/>
          </a:solidFill>
          <a:ln/>
        </p:spPr>
      </p:sp>
      <p:sp>
        <p:nvSpPr>
          <p:cNvPr id="5" name="Shape 3"/>
          <p:cNvSpPr/>
          <p:nvPr/>
        </p:nvSpPr>
        <p:spPr>
          <a:xfrm>
            <a:off x="2001469" y="1883664"/>
            <a:ext cx="658368" cy="65836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2001469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zsz5.edupage.org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Wchodzisz na oficjalną stronę szkoły.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4378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05274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F3EEF0"/>
          </a:solidFill>
          <a:ln/>
        </p:spPr>
      </p:sp>
      <p:sp>
        <p:nvSpPr>
          <p:cNvPr id="11" name="Shape 8"/>
          <p:cNvSpPr/>
          <p:nvPr/>
        </p:nvSpPr>
        <p:spPr>
          <a:xfrm>
            <a:off x="5766664" y="1883664"/>
            <a:ext cx="658368" cy="65836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9"/>
          <p:cNvSpPr/>
          <p:nvPr/>
        </p:nvSpPr>
        <p:spPr>
          <a:xfrm>
            <a:off x="5766664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606442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Menu: Statut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43018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Szukasz zakładki z dokumentami szkoły.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573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70469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F3EEF0"/>
          </a:solidFill>
          <a:ln/>
        </p:spPr>
      </p:sp>
      <p:sp>
        <p:nvSpPr>
          <p:cNvPr id="17" name="Shape 13"/>
          <p:cNvSpPr/>
          <p:nvPr/>
        </p:nvSpPr>
        <p:spPr>
          <a:xfrm>
            <a:off x="9531858" y="1883664"/>
            <a:ext cx="658368" cy="65836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4"/>
          <p:cNvSpPr/>
          <p:nvPr/>
        </p:nvSpPr>
        <p:spPr>
          <a:xfrm>
            <a:off x="9531858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371637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Aktualny plik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08213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Pracujesz na wersji ze strony, nie na kopii z zeszłego roku.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bywa zmieniany. Zawsze sprawdzasz plik ze strony szkoły, a nie zdjęcie z czyjegoś telefonu.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2 · Statut ZSZ5 · ZSZ5 we Wrocławiu · 2026/2027</a:t>
            </a:r>
            <a:endParaRPr lang="en-US" sz="950" dirty="0"/>
          </a:p>
        </p:txBody>
      </p:sp>
      <p:pic>
        <p:nvPicPr>
          <p:cNvPr id="24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reguluje statut — i kiedy Ci się to przyda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5F0F2"/>
          </a:solidFill>
          <a:ln/>
        </p:spPr>
      </p:sp>
      <p:sp>
        <p:nvSpPr>
          <p:cNvPr id="5" name="Shape 3"/>
          <p:cNvSpPr/>
          <p:nvPr/>
        </p:nvSpPr>
        <p:spPr>
          <a:xfrm>
            <a:off x="937077" y="1915485"/>
            <a:ext cx="539862" cy="53986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4" y="2045052"/>
            <a:ext cx="280728" cy="280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15485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Prawa i obowiązki ucznia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15485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Podstawa rozmowy, gdy uważasz, że Twoje prawo zostało naruszone.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706624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937077" y="2811597"/>
            <a:ext cx="539862" cy="53986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4" y="2941164"/>
            <a:ext cx="280728" cy="280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2811597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Ocenianie i zachowanie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2811597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Zasady poprawiania ocen, tryb odwołania, kryteria oceny zachowania.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602736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5F0F2"/>
          </a:solidFill>
          <a:ln/>
        </p:spPr>
      </p:sp>
      <p:sp>
        <p:nvSpPr>
          <p:cNvPr id="15" name="Shape 11"/>
          <p:cNvSpPr/>
          <p:nvPr/>
        </p:nvSpPr>
        <p:spPr>
          <a:xfrm>
            <a:off x="937077" y="3707709"/>
            <a:ext cx="539862" cy="53986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4" y="3837276"/>
            <a:ext cx="280728" cy="2807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3707709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Frekwencja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3707709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Terminy usprawiedliwień i skutki nieobecności.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4498848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937077" y="4603821"/>
            <a:ext cx="539862" cy="53986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4" y="4733388"/>
            <a:ext cx="280728" cy="2807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4603821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Praktyki i zajęcia praktyczne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4603821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Obowiązki ucznia, dokumentacja, konsekwencje nieobecności u pracodawcy.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0080" y="5394960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5F0F2"/>
          </a:solidFill>
          <a:ln/>
        </p:spPr>
      </p:sp>
      <p:sp>
        <p:nvSpPr>
          <p:cNvPr id="25" name="Shape 19"/>
          <p:cNvSpPr/>
          <p:nvPr/>
        </p:nvSpPr>
        <p:spPr>
          <a:xfrm>
            <a:off x="937077" y="5499933"/>
            <a:ext cx="539862" cy="53986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644" y="5629500"/>
            <a:ext cx="280728" cy="2807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55648" y="5499933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Pomoc psychologiczno-pedagogiczna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77840" y="5499933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formalnie uruchomić wsparcie, jeśli go potrzebujesz.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2 · Statut ZSZ5 · ZSZ5 we Wrocławiu · 2026/2027</a:t>
            </a:r>
            <a:endParaRPr lang="en-US" sz="950" dirty="0"/>
          </a:p>
        </p:txBody>
      </p:sp>
      <p:pic>
        <p:nvPicPr>
          <p:cNvPr id="30" name="Image 5" descr="/sessions/compassionate-clever-carson/mnt/outputs/build/logo_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ZSZ5 to trzy szkoły w jednym statucie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5F0F2"/>
          </a:solidFill>
          <a:ln/>
        </p:spPr>
      </p:sp>
      <p:sp>
        <p:nvSpPr>
          <p:cNvPr id="5" name="Shape 3"/>
          <p:cNvSpPr/>
          <p:nvPr/>
        </p:nvSpPr>
        <p:spPr>
          <a:xfrm>
            <a:off x="1891741" y="2057400"/>
            <a:ext cx="950976" cy="950976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975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Technikum nr 5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kształcenie zawodowe i ogólne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 i kwalifikacje zawodowe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praktyka zawodowa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5F0F2"/>
          </a:solidFill>
          <a:ln/>
        </p:spPr>
      </p:sp>
      <p:sp>
        <p:nvSpPr>
          <p:cNvPr id="10" name="Shape 7"/>
          <p:cNvSpPr/>
          <p:nvPr/>
        </p:nvSpPr>
        <p:spPr>
          <a:xfrm>
            <a:off x="5620360" y="2057400"/>
            <a:ext cx="950976" cy="950976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94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Branżowa Szkoła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stopnia nr 5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1306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kształcenie w konkretnym zawodzie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zajęcia praktyczne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kwalifikacja zawodowa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5F0F2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8978" y="2057400"/>
            <a:ext cx="950976" cy="950976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212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Branżowa Szkoła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stopnia nr 5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9925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kontynuacja po szkole I stopnia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kolejna kwalifikacja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droga do tytułu technika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2 · Statut ZSZ5 · ZSZ5 we Wrocławiu · 2026/2027</a:t>
            </a:r>
            <a:endParaRPr lang="en-US" sz="950" dirty="0"/>
          </a:p>
        </p:txBody>
      </p:sp>
      <p:pic>
        <p:nvPicPr>
          <p:cNvPr id="2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FREKWENCJA W STATUCIE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obecność jest zapisana w dokumencie prawnym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5F0F2"/>
          </a:solidFill>
          <a:ln/>
        </p:spPr>
      </p:sp>
      <p:sp>
        <p:nvSpPr>
          <p:cNvPr id="5" name="Shape 3"/>
          <p:cNvSpPr/>
          <p:nvPr/>
        </p:nvSpPr>
        <p:spPr>
          <a:xfrm>
            <a:off x="937077" y="1915485"/>
            <a:ext cx="539862" cy="53986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4" y="2045052"/>
            <a:ext cx="280728" cy="280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15485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Usprawiedliwienia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15485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mówi, kto usprawiedliwia, w jakiej formie i w jakim terminie.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706624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937077" y="2811597"/>
            <a:ext cx="539862" cy="53986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4" y="2941164"/>
            <a:ext cx="280728" cy="280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2811597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Ostrzeżenia i nagany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2811597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Reakcje szkoły są opisane i stopniowane. Nie są improwizacją nauczyciela.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602736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5F0F2"/>
          </a:solidFill>
          <a:ln/>
        </p:spPr>
      </p:sp>
      <p:sp>
        <p:nvSpPr>
          <p:cNvPr id="15" name="Shape 11"/>
          <p:cNvSpPr/>
          <p:nvPr/>
        </p:nvSpPr>
        <p:spPr>
          <a:xfrm>
            <a:off x="937077" y="3707709"/>
            <a:ext cx="539862" cy="53986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4" y="3837276"/>
            <a:ext cx="280728" cy="2807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3707709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Klasyfikacja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3707709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Zbyt duża nieobecność na przedmiocie może oznaczać brak podstaw do wystawienia oceny.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4498848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937077" y="4603821"/>
            <a:ext cx="539862" cy="53986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4" y="4733388"/>
            <a:ext cx="280728" cy="2807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4603821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Promocja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4603821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Skutki nieklasyfikowania przekładają się na całą decyzję o promocji.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0080" y="5394960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5F0F2"/>
          </a:solidFill>
          <a:ln/>
        </p:spPr>
      </p:sp>
      <p:sp>
        <p:nvSpPr>
          <p:cNvPr id="25" name="Shape 19"/>
          <p:cNvSpPr/>
          <p:nvPr/>
        </p:nvSpPr>
        <p:spPr>
          <a:xfrm>
            <a:off x="937077" y="5499933"/>
            <a:ext cx="539862" cy="53986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644" y="5629500"/>
            <a:ext cx="280728" cy="2807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55648" y="5499933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Praktyki zawodowe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77840" y="5499933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Nieobecność u pracodawcy ma osobne konsekwencje, także wobec zakładu pracy.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2 · Statut ZSZ5 · ZSZ5 we Wrocławiu · 2026/2027</a:t>
            </a:r>
            <a:endParaRPr lang="en-US" sz="950" dirty="0"/>
          </a:p>
        </p:txBody>
      </p:sp>
      <p:pic>
        <p:nvPicPr>
          <p:cNvPr id="30" name="Image 5" descr="/sessions/compassionate-clever-carson/mnt/outputs/build/logo_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czego trzeba szukać w statucie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F0EAED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sytuacje, trzy grupy. Zadanie nie polega na wyroku, ale na wskazaniu, którego fragmentu statutu trzeba poszukać.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E2D5DA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27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Sytuacja 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Uczeń był nieobecny kilka dni i przynosi usprawiedliwienie po terminie.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E2D5DA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27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Sytuacja B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Uczeń Branżowej Szkoły I stopnia nie dostarcza dzienniczka praktyk.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E2D5DA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27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Sytuacja C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Uczeń ma ponad połowę nieobecności na jednym przedmiocie.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Sytuacje są wymyślone. Nie komentujemy przypadków konkretnych uczniów z naszej szkoły.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2 · Statut ZSZ5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2ECEE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Który fragment statutu przeczytam w tym tygodniu.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2ECEE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 dopytam wychowawcę.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2EC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1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Której zasady nadal nie rozumiem.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Uważasz, że coś jest niesprawiedliwe? Nie zaczynaj od kłótni. Zacznij od zdania: „sprawdźmy, co mówi statut”.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2 · Statut ZSZ5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Statut ZSZ5</dc:title>
  <dc:subject>Lekcja wychowawcza 2026/2027</dc:subject>
  <dc:creator>ZSZ5 we Wrocławiu</dc:creator>
  <cp:lastModifiedBy>ZSZ5 we Wrocławiu</cp:lastModifiedBy>
  <cp:revision>1</cp:revision>
  <dcterms:created xsi:type="dcterms:W3CDTF">2026-08-10T20:23:32Z</dcterms:created>
  <dcterms:modified xsi:type="dcterms:W3CDTF">2026-08-10T20:23:32Z</dcterms:modified>
</cp:coreProperties>
</file>