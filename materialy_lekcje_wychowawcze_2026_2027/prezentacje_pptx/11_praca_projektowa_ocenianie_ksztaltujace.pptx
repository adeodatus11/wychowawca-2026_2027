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 całej lekcji: 30 minut. Grupa: wszystkie klasy. Na slajdach i w ćwiczeniu nie pojawiają się dane osobowe ani przykłady pozwalające rozpoznać konkretnego ucznia. Po slajdach przejdź do ćwiczenia 'Mini-projekt klasy'.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Zbierz dwie odpowiedzi. Uczniowie sami zwykle nazywają, czego im brakuje w ocenianiu – wykorzystaj ich słowa.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Kluczowy komunikat: ocenianie kształtujące nie znaczy „bez ocen”. Znaczy „z informacją, co dalej”.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Pokaż to na przykładzie z pracowni albo z praktyki – im bliżej zawodu, tym lepiej to działa.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 trzy elementy działają też między uczniami. Dobrze jest przećwiczyć je w parach na czymś neutralnym.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Zaproś klasę do umowy: taka informacja zwrotna obowiązuje w obie strony, także gdy uczniowie oceniają pracę kolegów.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Jeśli brakuje czasu, ten slajd można pominąć.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Mini-projekt klasy: wybór problemu szkolnego, szybki cel, kryteria sukcesu i jedna informacja zwrotna w parze. Na slajdach i w ćwiczeniu nie pojawiają się dane osobowe ani przykłady pozwalające rozpoznać konkretnego ucznia. Jeśli pomysł jest dobry, warto zgłosić go do samorządu i doprowadzić do realizacji.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Zachęć do korzystania z tego pytania. Uczy prosić o konkret zamiast negocjować ocenę.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325880"/>
            <a:ext cx="3749040" cy="3749040"/>
          </a:xfrm>
          <a:prstGeom prst="ellipse">
            <a:avLst/>
          </a:prstGeom>
          <a:solidFill>
            <a:srgbClr val="F6F1F6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828800"/>
            <a:ext cx="2743200" cy="2743200"/>
          </a:xfrm>
          <a:prstGeom prst="ellipse">
            <a:avLst/>
          </a:prstGeom>
          <a:solidFill>
            <a:srgbClr val="EAE0EA"/>
          </a:solidFill>
          <a:ln/>
        </p:spPr>
      </p:sp>
      <p:sp>
        <p:nvSpPr>
          <p:cNvPr id="4" name="Shape 2"/>
          <p:cNvSpPr/>
          <p:nvPr/>
        </p:nvSpPr>
        <p:spPr>
          <a:xfrm>
            <a:off x="9171432" y="2267712"/>
            <a:ext cx="1865376" cy="1865376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0" y="272034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868680"/>
            <a:ext cx="841248" cy="841248"/>
          </a:xfrm>
          <a:prstGeom prst="ellipse">
            <a:avLst/>
          </a:prstGeom>
          <a:solidFill>
            <a:srgbClr val="ECE4E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83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7A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LEKCJA WYCHOWAWCZA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ZSZ5 we Wrocławiu · rok szkolny 2026/2027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7360920" cy="117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Ciekawość, projekt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informacja zwrotna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0080" y="3513328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Ocena mówi, gdzie jesteś. Informacja zwrotna mówi, co zrobić dalej. Ta lekcja jest o drugiej z tych rzeczy.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192378" cy="475488"/>
          </a:xfrm>
          <a:prstGeom prst="roundRect">
            <a:avLst>
              <a:gd name="adj" fmla="val 96154"/>
            </a:avLst>
          </a:prstGeom>
          <a:solidFill>
            <a:srgbClr val="F2EC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029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5074920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033626" y="5074920"/>
            <a:ext cx="1819656" cy="475488"/>
          </a:xfrm>
          <a:prstGeom prst="roundRect">
            <a:avLst>
              <a:gd name="adj" fmla="val 96154"/>
            </a:avLst>
          </a:prstGeom>
          <a:solidFill>
            <a:srgbClr val="F2EC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74" y="520293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72538" y="5074920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klasy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11 · Projekt i informacja zwrotna · ZSZ5 we Wrocławiu · 2026/2027</a:t>
            </a:r>
            <a:endParaRPr lang="en-US" sz="950" dirty="0"/>
          </a:p>
        </p:txBody>
      </p:sp>
      <p:pic>
        <p:nvPicPr>
          <p:cNvPr id="19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WEJŚCIE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Zacznijmy od sytuacji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11535" cy="3611880"/>
          </a:xfrm>
          <a:prstGeom prst="roundRect">
            <a:avLst>
              <a:gd name="adj" fmla="val 2532"/>
            </a:avLst>
          </a:prstGeom>
          <a:solidFill>
            <a:srgbClr val="F2ECF2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884932"/>
            <a:ext cx="1170432" cy="1170432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6" y="3165836"/>
            <a:ext cx="608625" cy="60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938528"/>
            <a:ext cx="830549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Dostajesz pracę z oceną 3 i komentarzem „słabo”. Co z tym zrobisz? A co, gdyby było napisane, które dwie rzeczy poprawić?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5229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5440680"/>
            <a:ext cx="10454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Różnica nie polega na ocenie. Polega na tym, czy wiesz, co dalej.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11 · Projekt i informacja zwrotna · ZSZ5 we Wrocławiu · 2026/2027</a:t>
            </a:r>
            <a:endParaRPr lang="en-US" sz="950" dirty="0"/>
          </a:p>
        </p:txBody>
      </p:sp>
      <p:pic>
        <p:nvPicPr>
          <p:cNvPr id="11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Skąd bierze się temat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2148840"/>
          </a:xfrm>
          <a:prstGeom prst="roundRect">
            <a:avLst>
              <a:gd name="adj" fmla="val 4255"/>
            </a:avLst>
          </a:prstGeom>
          <a:solidFill>
            <a:srgbClr val="F2ECF2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327148"/>
            <a:ext cx="877824" cy="877824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086" y="2537826"/>
            <a:ext cx="456468" cy="4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920240"/>
            <a:ext cx="8671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b="1" dirty="0">
                <a:solidFill>
                  <a:srgbClr val="4925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Ciekawość i aktywność poznawcza, interdyscyplinarność, praca projektowa oraz ocenianie kształtujące i informacja zwrotna.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240280" y="3364992"/>
            <a:ext cx="8671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Kierunki polityki oświatowej państwa na rok szkolny 2026/2027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886968" y="4498848"/>
            <a:ext cx="640080" cy="640080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5246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łączy przedmioty i praktykę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62602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609490" y="4498848"/>
            <a:ext cx="640080" cy="640080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10" y="4652467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8634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Informacja zwrotna uczy po błędzie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085125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8332013" y="4498848"/>
            <a:ext cx="640080" cy="640080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652467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41157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Kryteria sukcesu znane przed pracą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11 · Projekt i informacja zwrotna · ZSZ5 we Wrocławiu · 2026/2027</a:t>
            </a:r>
            <a:endParaRPr lang="en-US" sz="950" dirty="0"/>
          </a:p>
        </p:txBody>
      </p:sp>
      <p:pic>
        <p:nvPicPr>
          <p:cNvPr id="22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Cztery kroki, które zamieniają pomysł w efekt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4F0F5"/>
          </a:solidFill>
          <a:ln/>
        </p:spPr>
      </p:sp>
      <p:sp>
        <p:nvSpPr>
          <p:cNvPr id="5" name="Shape 3"/>
          <p:cNvSpPr/>
          <p:nvPr/>
        </p:nvSpPr>
        <p:spPr>
          <a:xfrm>
            <a:off x="1530820" y="1883664"/>
            <a:ext cx="658368" cy="658368"/>
          </a:xfrm>
          <a:prstGeom prst="ellipse">
            <a:avLst/>
          </a:prstGeom>
          <a:solidFill>
            <a:srgbClr val="7A3E7E"/>
          </a:solidFill>
          <a:ln/>
        </p:spPr>
      </p:sp>
      <p:sp>
        <p:nvSpPr>
          <p:cNvPr id="6" name="Text 4"/>
          <p:cNvSpPr/>
          <p:nvPr/>
        </p:nvSpPr>
        <p:spPr>
          <a:xfrm>
            <a:off x="1530820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Coś, co naprawdę przeszkadza albo naprawdę ciekawi.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3080" y="3282696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63976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4F0F5"/>
          </a:solidFill>
          <a:ln/>
        </p:spPr>
      </p:sp>
      <p:sp>
        <p:nvSpPr>
          <p:cNvPr id="11" name="Shape 8"/>
          <p:cNvSpPr/>
          <p:nvPr/>
        </p:nvSpPr>
        <p:spPr>
          <a:xfrm>
            <a:off x="4354716" y="1883664"/>
            <a:ext cx="658368" cy="658368"/>
          </a:xfrm>
          <a:prstGeom prst="ellipse">
            <a:avLst/>
          </a:prstGeom>
          <a:solidFill>
            <a:srgbClr val="7A3E7E"/>
          </a:solidFill>
          <a:ln/>
        </p:spPr>
      </p:sp>
      <p:sp>
        <p:nvSpPr>
          <p:cNvPr id="12" name="Text 9"/>
          <p:cNvSpPr/>
          <p:nvPr/>
        </p:nvSpPr>
        <p:spPr>
          <a:xfrm>
            <a:off x="4354716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665144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01720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 zdanie: co ma być gotowe i kiedy.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976" y="328269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87872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4F0F5"/>
          </a:solidFill>
          <a:ln/>
        </p:spPr>
      </p:sp>
      <p:sp>
        <p:nvSpPr>
          <p:cNvPr id="17" name="Shape 13"/>
          <p:cNvSpPr/>
          <p:nvPr/>
        </p:nvSpPr>
        <p:spPr>
          <a:xfrm>
            <a:off x="7178612" y="1883664"/>
            <a:ext cx="658368" cy="658368"/>
          </a:xfrm>
          <a:prstGeom prst="ellipse">
            <a:avLst/>
          </a:prstGeom>
          <a:solidFill>
            <a:srgbClr val="7A3E7E"/>
          </a:solidFill>
          <a:ln/>
        </p:spPr>
      </p:sp>
      <p:sp>
        <p:nvSpPr>
          <p:cNvPr id="18" name="Text 14"/>
          <p:cNvSpPr/>
          <p:nvPr/>
        </p:nvSpPr>
        <p:spPr>
          <a:xfrm>
            <a:off x="7178612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6489040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Kryteria sukcesu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25616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czym poznamy, że się udało. Ustalone przed pracą.</a:t>
            </a:r>
            <a:endParaRPr lang="en-US" sz="12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871" y="3282696"/>
            <a:ext cx="237744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111767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4F0F5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02507" y="1883664"/>
            <a:ext cx="658368" cy="658368"/>
          </a:xfrm>
          <a:prstGeom prst="ellipse">
            <a:avLst/>
          </a:prstGeom>
          <a:solidFill>
            <a:srgbClr val="7A3E7E"/>
          </a:solidFill>
          <a:ln/>
        </p:spPr>
      </p:sp>
      <p:sp>
        <p:nvSpPr>
          <p:cNvPr id="24" name="Text 19"/>
          <p:cNvSpPr/>
          <p:nvPr/>
        </p:nvSpPr>
        <p:spPr>
          <a:xfrm>
            <a:off x="10002507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9312935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Efekt i informacja zwrotna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349511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Pokazujemy wynik i mówimy, co poprawić w następnej wersji.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40080" y="4956048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28" name="Text 23"/>
          <p:cNvSpPr/>
          <p:nvPr/>
        </p:nvSpPr>
        <p:spPr>
          <a:xfrm>
            <a:off x="1097280" y="4956048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kryteriów sukcesu projekt kończy się kłótnią o ocenę. Z kryteriami kończy się rozmową o poprawie.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11 · Projekt i informacja zwrotna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INFORMACJA ZWROTNA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elementy, bez których to tylko ocena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6F1F6"/>
          </a:solidFill>
          <a:ln/>
        </p:spPr>
      </p:sp>
      <p:sp>
        <p:nvSpPr>
          <p:cNvPr id="5" name="Shape 3"/>
          <p:cNvSpPr/>
          <p:nvPr/>
        </p:nvSpPr>
        <p:spPr>
          <a:xfrm>
            <a:off x="1891741" y="2057400"/>
            <a:ext cx="950976" cy="950976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975" y="2285634"/>
            <a:ext cx="494508" cy="494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jest zrobione dobrze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konkretnie, nie „ogólnie ok”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wskazanie fragmentu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zostaje w następnej wersji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6F1F6"/>
          </a:solidFill>
          <a:ln/>
        </p:spPr>
      </p:sp>
      <p:sp>
        <p:nvSpPr>
          <p:cNvPr id="10" name="Shape 7"/>
          <p:cNvSpPr/>
          <p:nvPr/>
        </p:nvSpPr>
        <p:spPr>
          <a:xfrm>
            <a:off x="5620360" y="2057400"/>
            <a:ext cx="950976" cy="950976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594" y="2285634"/>
            <a:ext cx="494508" cy="4945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9866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wymaga poprawy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1306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maksymalnie dwie rzeczy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pracy, nie o osobie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porównywania z innymi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7317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6F1F6"/>
          </a:solidFill>
          <a:ln/>
        </p:spPr>
      </p:sp>
      <p:sp>
        <p:nvSpPr>
          <p:cNvPr id="15" name="Shape 11"/>
          <p:cNvSpPr/>
          <p:nvPr/>
        </p:nvSpPr>
        <p:spPr>
          <a:xfrm>
            <a:off x="9348978" y="2057400"/>
            <a:ext cx="950976" cy="950976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212" y="2285634"/>
            <a:ext cx="494508" cy="4945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8485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to poprawić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89925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konkretna wskazówka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możliwa do wykonania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terminem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11 · Projekt i informacja zwrotna · ZSZ5 we Wrocławiu · 2026/2027</a:t>
            </a:r>
            <a:endParaRPr lang="en-US" sz="950" dirty="0"/>
          </a:p>
        </p:txBody>
      </p:sp>
      <p:pic>
        <p:nvPicPr>
          <p:cNvPr id="2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JAKOŚCI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rozpoznać dobrą informację zwrotną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5263744" cy="4389120"/>
          </a:xfrm>
          <a:prstGeom prst="roundRect">
            <a:avLst>
              <a:gd name="adj" fmla="val 2083"/>
            </a:avLst>
          </a:prstGeom>
          <a:solidFill>
            <a:srgbClr val="F0F6F2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" y="2002536"/>
            <a:ext cx="640080" cy="640080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587" y="2156155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93392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pomaga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24128" y="2871216"/>
            <a:ext cx="4532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„Wstęp jest jasny, uzasadnienie w punkcie 3 wymaga przykładu.”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Odnosi się do pracy i do kryteriów ustalonych wcześniej.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Mówi, co zrobić w następnym kroku.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Zostawia miejsce na poprawę i drugą wersję.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87872" y="1755648"/>
            <a:ext cx="5263744" cy="4389120"/>
          </a:xfrm>
          <a:prstGeom prst="roundRect">
            <a:avLst>
              <a:gd name="adj" fmla="val 2083"/>
            </a:avLst>
          </a:prstGeom>
          <a:solidFill>
            <a:srgbClr val="FAF0F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4760" y="2002536"/>
            <a:ext cx="640080" cy="640080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379" y="2156155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5152" y="1993392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nie pomaga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1920" y="2871216"/>
            <a:ext cx="4532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„Słabo”, „mogło być lepiej”, „bez zaangażowania”.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Ocenia osobę, a nie pracę.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Porównuje z kimś z klasy.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Pojawia się dopiero wtedy, gdy nic nie da się już zmienić.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11 · Projekt i informacja zwrotna · ZSZ5 we Wrocławiu · 2026/2027</a:t>
            </a:r>
            <a:endParaRPr lang="en-US" sz="950" dirty="0"/>
          </a:p>
        </p:txBody>
      </p:sp>
      <p:pic>
        <p:nvPicPr>
          <p:cNvPr id="15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SŁOWA KLUCZOWE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Pięć słów, które zostają po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3EEF3"/>
          </a:solidFill>
          <a:ln/>
        </p:spPr>
      </p:sp>
      <p:sp>
        <p:nvSpPr>
          <p:cNvPr id="5" name="Shape 3"/>
          <p:cNvSpPr/>
          <p:nvPr/>
        </p:nvSpPr>
        <p:spPr>
          <a:xfrm>
            <a:off x="1206368" y="2249424"/>
            <a:ext cx="859536" cy="859536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657" y="2455713"/>
            <a:ext cx="446959" cy="4469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Ciekawość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68096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pytanie, nie tylko odpowiedź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69936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3EEF3"/>
          </a:solidFill>
          <a:ln/>
        </p:spPr>
      </p:sp>
      <p:sp>
        <p:nvSpPr>
          <p:cNvPr id="10" name="Shape 7"/>
          <p:cNvSpPr/>
          <p:nvPr/>
        </p:nvSpPr>
        <p:spPr>
          <a:xfrm>
            <a:off x="3436224" y="2249424"/>
            <a:ext cx="859536" cy="859536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512" y="2455713"/>
            <a:ext cx="446959" cy="4469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9664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2997952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efekt, nie referat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99792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3EEF3"/>
          </a:solidFill>
          <a:ln/>
        </p:spPr>
      </p:sp>
      <p:sp>
        <p:nvSpPr>
          <p:cNvPr id="15" name="Shape 11"/>
          <p:cNvSpPr/>
          <p:nvPr/>
        </p:nvSpPr>
        <p:spPr>
          <a:xfrm>
            <a:off x="5666080" y="2249424"/>
            <a:ext cx="859536" cy="859536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68" y="2455713"/>
            <a:ext cx="446959" cy="4469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09520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227808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 zdanie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29648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3EEF3"/>
          </a:solidFill>
          <a:ln/>
        </p:spPr>
      </p:sp>
      <p:sp>
        <p:nvSpPr>
          <p:cNvPr id="20" name="Shape 15"/>
          <p:cNvSpPr/>
          <p:nvPr/>
        </p:nvSpPr>
        <p:spPr>
          <a:xfrm>
            <a:off x="7895935" y="2249424"/>
            <a:ext cx="859536" cy="859536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224" y="2455713"/>
            <a:ext cx="446959" cy="4469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9376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Kryteria sukcesu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457664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znane przed pracą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559503" y="1965960"/>
            <a:ext cx="1992112" cy="3108960"/>
          </a:xfrm>
          <a:prstGeom prst="roundRect">
            <a:avLst>
              <a:gd name="adj" fmla="val 4131"/>
            </a:avLst>
          </a:prstGeom>
          <a:solidFill>
            <a:srgbClr val="F3EEF3"/>
          </a:solidFill>
          <a:ln/>
        </p:spPr>
      </p:sp>
      <p:sp>
        <p:nvSpPr>
          <p:cNvPr id="25" name="Shape 19"/>
          <p:cNvSpPr/>
          <p:nvPr/>
        </p:nvSpPr>
        <p:spPr>
          <a:xfrm>
            <a:off x="10125791" y="2249424"/>
            <a:ext cx="859536" cy="859536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080" y="2455713"/>
            <a:ext cx="446959" cy="4469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69231" y="3264408"/>
            <a:ext cx="177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Informacja zwrotna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9687519" y="3703320"/>
            <a:ext cx="173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i jak poprawić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11 · Projekt i informacja zwrotna · ZSZ5 we Wrocławiu · 2026/2027</a:t>
            </a:r>
            <a:endParaRPr lang="en-US" sz="950" dirty="0"/>
          </a:p>
        </p:txBody>
      </p:sp>
      <p:pic>
        <p:nvPicPr>
          <p:cNvPr id="30" name="Image 5" descr="/sessions/compassionate-clever-carson/mnt/outputs/build/logo_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GŁÓWNE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Mini-projekt klasy: problem, cel, kryteria, informacja zwrotna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14255" y="658368"/>
            <a:ext cx="1737360" cy="566928"/>
          </a:xfrm>
          <a:prstGeom prst="roundRect">
            <a:avLst>
              <a:gd name="adj" fmla="val 80645"/>
            </a:avLst>
          </a:prstGeom>
          <a:solidFill>
            <a:srgbClr val="7A3E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567" y="8229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44607" y="65836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0911535" cy="1152144"/>
          </a:xfrm>
          <a:prstGeom prst="roundRect">
            <a:avLst>
              <a:gd name="adj" fmla="val 7143"/>
            </a:avLst>
          </a:prstGeom>
          <a:solidFill>
            <a:srgbClr val="F2ECF2"/>
          </a:solidFill>
          <a:ln/>
        </p:spPr>
      </p:sp>
      <p:sp>
        <p:nvSpPr>
          <p:cNvPr id="8" name="Shape 5"/>
          <p:cNvSpPr/>
          <p:nvPr/>
        </p:nvSpPr>
        <p:spPr>
          <a:xfrm>
            <a:off x="923544" y="1773936"/>
            <a:ext cx="804672" cy="804672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1967057"/>
            <a:ext cx="418429" cy="418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1728216"/>
            <a:ext cx="9219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Wybieracie jeden realny problem szkolny i przechodzicie z nim przez cztery kroki projektu — na razie tylko na papierze.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2" name="Shape 8"/>
          <p:cNvSpPr/>
          <p:nvPr/>
        </p:nvSpPr>
        <p:spPr>
          <a:xfrm>
            <a:off x="877824" y="3282696"/>
            <a:ext cx="512064" cy="512064"/>
          </a:xfrm>
          <a:prstGeom prst="ellipse">
            <a:avLst/>
          </a:prstGeom>
          <a:solidFill>
            <a:srgbClr val="E4D8E5"/>
          </a:solidFill>
          <a:ln/>
        </p:spPr>
      </p:sp>
      <p:sp>
        <p:nvSpPr>
          <p:cNvPr id="13" name="Text 9"/>
          <p:cNvSpPr/>
          <p:nvPr/>
        </p:nvSpPr>
        <p:spPr>
          <a:xfrm>
            <a:off x="877824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83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7824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 cel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77824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wybiera jeden problem. Cel formułujemy w jednym zdaniu, z terminem.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56506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594250" y="3282696"/>
            <a:ext cx="512064" cy="512064"/>
          </a:xfrm>
          <a:prstGeom prst="ellipse">
            <a:avLst/>
          </a:prstGeom>
          <a:solidFill>
            <a:srgbClr val="E4D8E5"/>
          </a:solidFill>
          <a:ln/>
        </p:spPr>
      </p:sp>
      <p:sp>
        <p:nvSpPr>
          <p:cNvPr id="18" name="Text 14"/>
          <p:cNvSpPr/>
          <p:nvPr/>
        </p:nvSpPr>
        <p:spPr>
          <a:xfrm>
            <a:off x="459425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83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94250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Kryteria sukcesu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4250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punkty: po czym poznamy, że projekt się udał.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72933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8310677" y="3282696"/>
            <a:ext cx="512064" cy="512064"/>
          </a:xfrm>
          <a:prstGeom prst="ellipse">
            <a:avLst/>
          </a:prstGeom>
          <a:solidFill>
            <a:srgbClr val="E4D8E5"/>
          </a:solidFill>
          <a:ln/>
        </p:spPr>
      </p:sp>
      <p:sp>
        <p:nvSpPr>
          <p:cNvPr id="23" name="Text 19"/>
          <p:cNvSpPr/>
          <p:nvPr/>
        </p:nvSpPr>
        <p:spPr>
          <a:xfrm>
            <a:off x="8310677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835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310677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Informacja zwrotna w parze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8310677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Wymieniacie kartki i dajecie sobie zwrotkę w trzech elementach z lekcji.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468112"/>
            <a:ext cx="10911535" cy="676656"/>
          </a:xfrm>
          <a:prstGeom prst="roundRect">
            <a:avLst>
              <a:gd name="adj" fmla="val 9459"/>
            </a:avLst>
          </a:prstGeom>
          <a:solidFill>
            <a:srgbClr val="FBF2F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669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5468112"/>
            <a:ext cx="98599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0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Informacja zwrotna dotyczy pracy, nie osoby. Nie oceniamy kolegów ani ich pomysłów jednym słowem.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11 · Projekt i informacja zwrotna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7A3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WYJŚCIE Z LEKCJI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Wychodzisz z tej lekcji z trzema rzeczami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3EEF3"/>
          </a:solidFill>
          <a:ln/>
        </p:spPr>
      </p:sp>
      <p:sp>
        <p:nvSpPr>
          <p:cNvPr id="5" name="Shape 3"/>
          <p:cNvSpPr/>
          <p:nvPr/>
        </p:nvSpPr>
        <p:spPr>
          <a:xfrm>
            <a:off x="1867357" y="2203704"/>
            <a:ext cx="987552" cy="987552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70" y="2440716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decyzja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Którą pracę poprawię po informacji zwrotnej.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4794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3EEF3"/>
          </a:solidFill>
          <a:ln/>
        </p:spPr>
      </p:sp>
      <p:sp>
        <p:nvSpPr>
          <p:cNvPr id="10" name="Shape 7"/>
          <p:cNvSpPr/>
          <p:nvPr/>
        </p:nvSpPr>
        <p:spPr>
          <a:xfrm>
            <a:off x="5602072" y="2203704"/>
            <a:ext cx="987552" cy="987552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084" y="2440716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250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prośba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9114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jaką wskazówkę poproszę nauczyciela.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9509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3EEF3"/>
          </a:solidFill>
          <a:ln/>
        </p:spPr>
      </p:sp>
      <p:sp>
        <p:nvSpPr>
          <p:cNvPr id="15" name="Shape 11"/>
          <p:cNvSpPr/>
          <p:nvPr/>
        </p:nvSpPr>
        <p:spPr>
          <a:xfrm>
            <a:off x="9336786" y="2203704"/>
            <a:ext cx="987552" cy="987552"/>
          </a:xfrm>
          <a:prstGeom prst="ellipse">
            <a:avLst/>
          </a:prstGeom>
          <a:solidFill>
            <a:srgbClr val="7A3E7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98" y="2440716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72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pytanie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3829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nie rozumiem w kryteriach oceny.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911535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818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21224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wiesz, dlaczego dostałeś taką ocenę? Zapytaj o dwie rzeczy do poprawy. To pytanie, na które nauczyciel ma odpowiedzieć.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11 · Projekt i informacja zwrotna · ZSZ5 we Wrocławiu · 2026/2027</a:t>
            </a:r>
            <a:endParaRPr lang="en-US" sz="950" dirty="0"/>
          </a:p>
        </p:txBody>
      </p:sp>
      <p:pic>
        <p:nvPicPr>
          <p:cNvPr id="23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Zespół Szkół Zawodowych nr 5 we Wrocławiu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Ciekawość, projekt i informacja zwrotna</dc:title>
  <dc:subject>Lekcja wychowawcza 2026/2027</dc:subject>
  <dc:creator>ZSZ5 we Wrocławiu</dc:creator>
  <cp:lastModifiedBy>ZSZ5 we Wrocławiu</cp:lastModifiedBy>
  <cp:revision>1</cp:revision>
  <dcterms:created xsi:type="dcterms:W3CDTF">2026-08-10T20:23:32Z</dcterms:created>
  <dcterms:modified xsi:type="dcterms:W3CDTF">2026-08-10T20:23:32Z</dcterms:modified>
</cp:coreProperties>
</file>